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334" r:id="rId5"/>
    <p:sldId id="335" r:id="rId6"/>
    <p:sldId id="336" r:id="rId7"/>
    <p:sldId id="337" r:id="rId8"/>
    <p:sldId id="338" r:id="rId9"/>
    <p:sldId id="339" r:id="rId10"/>
    <p:sldId id="340" r:id="rId11"/>
    <p:sldId id="341" r:id="rId12"/>
    <p:sldId id="342" r:id="rId13"/>
    <p:sldId id="343" r:id="rId14"/>
    <p:sldId id="344" r:id="rId15"/>
    <p:sldId id="345" r:id="rId16"/>
    <p:sldId id="346" r:id="rId17"/>
    <p:sldId id="347" r:id="rId18"/>
    <p:sldId id="349" r:id="rId19"/>
    <p:sldId id="348" r:id="rId20"/>
    <p:sldId id="351" r:id="rId21"/>
    <p:sldId id="352"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 id="369" r:id="rId39"/>
    <p:sldId id="370" r:id="rId40"/>
    <p:sldId id="371" r:id="rId41"/>
    <p:sldId id="372" r:id="rId42"/>
    <p:sldId id="373" r:id="rId43"/>
    <p:sldId id="374" r:id="rId44"/>
    <p:sldId id="375" r:id="rId45"/>
    <p:sldId id="376" r:id="rId46"/>
    <p:sldId id="378" r:id="rId47"/>
    <p:sldId id="379" r:id="rId48"/>
    <p:sldId id="377" r:id="rId49"/>
    <p:sldId id="380" r:id="rId50"/>
    <p:sldId id="381" r:id="rId51"/>
    <p:sldId id="382" r:id="rId52"/>
    <p:sldId id="383" r:id="rId53"/>
    <p:sldId id="384" r:id="rId54"/>
    <p:sldId id="385" r:id="rId55"/>
    <p:sldId id="386" r:id="rId56"/>
    <p:sldId id="387" r:id="rId57"/>
    <p:sldId id="388" r:id="rId58"/>
    <p:sldId id="389" r:id="rId59"/>
    <p:sldId id="390" r:id="rId60"/>
    <p:sldId id="391" r:id="rId61"/>
    <p:sldId id="392" r:id="rId62"/>
    <p:sldId id="393" r:id="rId63"/>
    <p:sldId id="394" r:id="rId64"/>
    <p:sldId id="395" r:id="rId65"/>
    <p:sldId id="396" r:id="rId66"/>
    <p:sldId id="397" r:id="rId67"/>
    <p:sldId id="398" r:id="rId68"/>
    <p:sldId id="399" r:id="rId69"/>
    <p:sldId id="400" r:id="rId70"/>
    <p:sldId id="401" r:id="rId71"/>
    <p:sldId id="402" r:id="rId72"/>
    <p:sldId id="403" r:id="rId73"/>
    <p:sldId id="404" r:id="rId74"/>
    <p:sldId id="405" r:id="rId75"/>
    <p:sldId id="406" r:id="rId76"/>
    <p:sldId id="407" r:id="rId77"/>
    <p:sldId id="408"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3/19/2025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3/19/2025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3/19/2025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eeksforgeeks.org/transaction-in-dbm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geeksforgeeks.org/difference-between-commit-and-rollback-in-sq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geeksforgeeks.org/view-serializability-in-dbms/"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www.geeksforgeeks.org/serializability-in-dbms/" TargetMode="External"/><Relationship Id="rId2" Type="http://schemas.openxmlformats.org/officeDocument/2006/relationships/hyperlink" Target="https://www.geeksforgeeks.org/concurrency-control-in-dbms/"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geeksforgeeks.org/serializability-in-dbms/"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hyperlink" Target="https://www.geeksforgeeks.org/starvation-in-dbms/" TargetMode="Externa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Module-III</a:t>
            </a:r>
            <a:endParaRPr lang="en-US" dirty="0"/>
          </a:p>
        </p:txBody>
      </p:sp>
      <p:sp>
        <p:nvSpPr>
          <p:cNvPr id="3" name="Subtitle 2"/>
          <p:cNvSpPr>
            <a:spLocks noGrp="1"/>
          </p:cNvSpPr>
          <p:nvPr>
            <p:ph type="subTitle" idx="1"/>
          </p:nvPr>
        </p:nvSpPr>
        <p:spPr/>
        <p:txBody>
          <a:bodyPr>
            <a:normAutofit/>
          </a:bodyPr>
          <a:lstStyle/>
          <a:p>
            <a:r>
              <a:rPr lang="en-US" sz="4200" b="1" dirty="0" smtClean="0"/>
              <a:t>Transaction</a:t>
            </a:r>
            <a:endParaRPr lang="en-US" sz="4200" dirty="0"/>
          </a:p>
        </p:txBody>
      </p:sp>
    </p:spTree>
    <p:extLst>
      <p:ext uri="{BB962C8B-B14F-4D97-AF65-F5344CB8AC3E}">
        <p14:creationId xmlns:p14="http://schemas.microsoft.com/office/powerpoint/2010/main" val="31968983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570"/>
            <a:ext cx="8229600" cy="563562"/>
          </a:xfrm>
        </p:spPr>
        <p:style>
          <a:lnRef idx="1">
            <a:schemeClr val="accent4"/>
          </a:lnRef>
          <a:fillRef idx="2">
            <a:schemeClr val="accent4"/>
          </a:fillRef>
          <a:effectRef idx="1">
            <a:schemeClr val="accent4"/>
          </a:effectRef>
          <a:fontRef idx="minor">
            <a:schemeClr val="dk1"/>
          </a:fontRef>
        </p:style>
        <p:txBody>
          <a:bodyPr>
            <a:normAutofit fontScale="90000"/>
          </a:bodyPr>
          <a:lstStyle/>
          <a:p>
            <a:r>
              <a:rPr lang="en-US" dirty="0" smtClean="0"/>
              <a:t>Contents</a:t>
            </a:r>
            <a:endParaRPr lang="en-US" dirty="0"/>
          </a:p>
        </p:txBody>
      </p:sp>
      <p:sp>
        <p:nvSpPr>
          <p:cNvPr id="3" name="Content Placeholder 2"/>
          <p:cNvSpPr>
            <a:spLocks noGrp="1"/>
          </p:cNvSpPr>
          <p:nvPr>
            <p:ph idx="1"/>
          </p:nvPr>
        </p:nvSpPr>
        <p:spPr>
          <a:xfrm>
            <a:off x="228600" y="715962"/>
            <a:ext cx="8763000" cy="5913438"/>
          </a:xfrm>
        </p:spPr>
        <p:txBody>
          <a:bodyPr>
            <a:normAutofit/>
          </a:bodyPr>
          <a:lstStyle/>
          <a:p>
            <a:r>
              <a:rPr lang="en-US" dirty="0"/>
              <a:t>Transaction Model – ACID Properties – Transaction States – </a:t>
            </a:r>
            <a:r>
              <a:rPr lang="en-US" dirty="0" err="1"/>
              <a:t>Serializability</a:t>
            </a:r>
            <a:r>
              <a:rPr lang="en-US" dirty="0"/>
              <a:t> – Conflict </a:t>
            </a:r>
            <a:r>
              <a:rPr lang="en-US" dirty="0" err="1"/>
              <a:t>Serializability</a:t>
            </a:r>
            <a:r>
              <a:rPr lang="en-US" dirty="0"/>
              <a:t> – View </a:t>
            </a:r>
            <a:r>
              <a:rPr lang="en-US" dirty="0" err="1"/>
              <a:t>Serializability</a:t>
            </a:r>
            <a:r>
              <a:rPr lang="en-US" dirty="0"/>
              <a:t> – Testing </a:t>
            </a:r>
            <a:r>
              <a:rPr lang="en-US" dirty="0" err="1"/>
              <a:t>Serializability</a:t>
            </a:r>
            <a:r>
              <a:rPr lang="en-US" dirty="0"/>
              <a:t> – </a:t>
            </a:r>
            <a:endParaRPr lang="en-US" dirty="0" smtClean="0"/>
          </a:p>
          <a:p>
            <a:r>
              <a:rPr lang="en-US" dirty="0" smtClean="0"/>
              <a:t>Concurrency </a:t>
            </a:r>
            <a:r>
              <a:rPr lang="en-US" dirty="0"/>
              <a:t>Control: Lock-based Protocols – Locks, Granting of locks, The Two-phase Locking Protocol, Implementation of locking, Time based protocol</a:t>
            </a:r>
            <a:r>
              <a:rPr lang="en-US" dirty="0" smtClean="0"/>
              <a:t>.</a:t>
            </a:r>
          </a:p>
          <a:p>
            <a:r>
              <a:rPr lang="en-US" dirty="0" smtClean="0"/>
              <a:t>Deadlock </a:t>
            </a:r>
            <a:r>
              <a:rPr lang="en-US" dirty="0"/>
              <a:t>Handling: Deadlock Prevention, Deadlock Detection and Recovery.</a:t>
            </a:r>
          </a:p>
        </p:txBody>
      </p:sp>
    </p:spTree>
    <p:extLst>
      <p:ext uri="{BB962C8B-B14F-4D97-AF65-F5344CB8AC3E}">
        <p14:creationId xmlns:p14="http://schemas.microsoft.com/office/powerpoint/2010/main" val="34516647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93132"/>
            <a:ext cx="8534400" cy="6112468"/>
          </a:xfrm>
        </p:spPr>
        <p:txBody>
          <a:bodyPr>
            <a:normAutofit lnSpcReduction="10000"/>
          </a:bodyPr>
          <a:lstStyle/>
          <a:p>
            <a:pPr marL="0" indent="0" fontAlgn="base">
              <a:buNone/>
            </a:pPr>
            <a:r>
              <a:rPr lang="en-US" b="1" dirty="0"/>
              <a:t>What is a Transaction State?</a:t>
            </a:r>
          </a:p>
          <a:p>
            <a:pPr algn="just" fontAlgn="base"/>
            <a:r>
              <a:rPr lang="en-US" dirty="0"/>
              <a:t>A </a:t>
            </a:r>
            <a:r>
              <a:rPr lang="en-US" u="sng" dirty="0">
                <a:hlinkClick r:id="rId2"/>
              </a:rPr>
              <a:t>transaction </a:t>
            </a:r>
            <a:r>
              <a:rPr lang="en-US" dirty="0"/>
              <a:t>is a set of operations or tasks performed to complete a logical process, which may or may not change the data in a database. To handle different situations, like system failures, a transaction is divided into different states.</a:t>
            </a:r>
          </a:p>
          <a:p>
            <a:pPr algn="just" fontAlgn="base"/>
            <a:r>
              <a:rPr lang="en-US" dirty="0"/>
              <a:t>A transaction state refers to the current phase or condition of a transaction during its execution in a database. It represents the progress of the transaction and determines whether it will successfully complete (commit) or fail (abort).</a:t>
            </a:r>
          </a:p>
        </p:txBody>
      </p:sp>
      <p:sp>
        <p:nvSpPr>
          <p:cNvPr id="4" name="Title 1"/>
          <p:cNvSpPr txBox="1">
            <a:spLocks/>
          </p:cNvSpPr>
          <p:nvPr/>
        </p:nvSpPr>
        <p:spPr>
          <a:xfrm>
            <a:off x="457200" y="29570"/>
            <a:ext cx="8229600" cy="42763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dirty="0" smtClean="0"/>
              <a:t>Transaction - States</a:t>
            </a:r>
            <a:endParaRPr lang="en-US" b="1" dirty="0"/>
          </a:p>
        </p:txBody>
      </p:sp>
    </p:spTree>
    <p:extLst>
      <p:ext uri="{BB962C8B-B14F-4D97-AF65-F5344CB8AC3E}">
        <p14:creationId xmlns:p14="http://schemas.microsoft.com/office/powerpoint/2010/main" val="594103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457200"/>
            <a:ext cx="8763000" cy="6172200"/>
          </a:xfrm>
        </p:spPr>
        <p:txBody>
          <a:bodyPr/>
          <a:lstStyle/>
          <a:p>
            <a:pPr marL="0" indent="0" fontAlgn="base">
              <a:buNone/>
            </a:pPr>
            <a:r>
              <a:rPr lang="en-US" dirty="0"/>
              <a:t>A transaction involves two main operations:</a:t>
            </a:r>
          </a:p>
          <a:p>
            <a:pPr fontAlgn="base"/>
            <a:r>
              <a:rPr lang="en-US" b="1" dirty="0"/>
              <a:t>Read Operation</a:t>
            </a:r>
            <a:r>
              <a:rPr lang="en-US" dirty="0"/>
              <a:t>: Reads data from the database, stores it temporarily in memory (buffer), and uses it as needed.</a:t>
            </a:r>
          </a:p>
          <a:p>
            <a:pPr fontAlgn="base"/>
            <a:r>
              <a:rPr lang="en-US" b="1" dirty="0"/>
              <a:t>Write Operation</a:t>
            </a:r>
            <a:r>
              <a:rPr lang="en-US" dirty="0"/>
              <a:t>: Updates the database with the changed data using the buffer.</a:t>
            </a:r>
          </a:p>
          <a:p>
            <a:pPr fontAlgn="base"/>
            <a:r>
              <a:rPr lang="en-US" dirty="0"/>
              <a:t>From the start of executing instructions to the end, these operations are treated as a single transaction. This ensures the database remains consistent and reliable throughout the process.</a:t>
            </a:r>
          </a:p>
          <a:p>
            <a:endParaRPr lang="en-US" dirty="0"/>
          </a:p>
        </p:txBody>
      </p:sp>
      <p:sp>
        <p:nvSpPr>
          <p:cNvPr id="4" name="Title 1"/>
          <p:cNvSpPr txBox="1">
            <a:spLocks/>
          </p:cNvSpPr>
          <p:nvPr/>
        </p:nvSpPr>
        <p:spPr>
          <a:xfrm>
            <a:off x="457200" y="29570"/>
            <a:ext cx="8229600" cy="42763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rmAutofit fontScale="60000" lnSpcReduction="20000"/>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b="1" dirty="0" smtClean="0"/>
              <a:t>Transaction - States</a:t>
            </a:r>
            <a:endParaRPr lang="en-US" b="1" dirty="0"/>
          </a:p>
        </p:txBody>
      </p:sp>
    </p:spTree>
    <p:extLst>
      <p:ext uri="{BB962C8B-B14F-4D97-AF65-F5344CB8AC3E}">
        <p14:creationId xmlns:p14="http://schemas.microsoft.com/office/powerpoint/2010/main" val="3671333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52400" y="152400"/>
            <a:ext cx="8784230" cy="6477000"/>
          </a:xfrm>
          <a:prstGeom prst="rect">
            <a:avLst/>
          </a:prstGeom>
        </p:spPr>
      </p:pic>
    </p:spTree>
    <p:extLst>
      <p:ext uri="{BB962C8B-B14F-4D97-AF65-F5344CB8AC3E}">
        <p14:creationId xmlns:p14="http://schemas.microsoft.com/office/powerpoint/2010/main" val="40439967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33400"/>
            <a:ext cx="8915400" cy="4525963"/>
          </a:xfrm>
        </p:spPr>
        <p:txBody>
          <a:bodyPr>
            <a:normAutofit fontScale="85000" lnSpcReduction="10000"/>
          </a:bodyPr>
          <a:lstStyle/>
          <a:p>
            <a:pPr marL="0" indent="0" fontAlgn="base">
              <a:buNone/>
            </a:pPr>
            <a:r>
              <a:rPr lang="en-US" dirty="0"/>
              <a:t>These are different types of Transaction States :  </a:t>
            </a:r>
          </a:p>
          <a:p>
            <a:pPr fontAlgn="base"/>
            <a:r>
              <a:rPr lang="en-US" b="1" dirty="0"/>
              <a:t>1. Active State –</a:t>
            </a:r>
            <a:r>
              <a:rPr lang="en-US" dirty="0"/>
              <a:t> This is the first stage of a transaction, when the transaction’s instructions are being executed.</a:t>
            </a:r>
          </a:p>
          <a:p>
            <a:pPr fontAlgn="base"/>
            <a:r>
              <a:rPr lang="en-US" dirty="0"/>
              <a:t>It is the first stage of any transaction when it has begun to execute. The execution of the transaction takes place in this state.</a:t>
            </a:r>
          </a:p>
          <a:p>
            <a:pPr fontAlgn="base"/>
            <a:r>
              <a:rPr lang="en-US" dirty="0"/>
              <a:t>Operations such as insertion, deletion, or </a:t>
            </a:r>
            <a:r>
              <a:rPr lang="en-US" dirty="0" err="1"/>
              <a:t>updation</a:t>
            </a:r>
            <a:r>
              <a:rPr lang="en-US" dirty="0"/>
              <a:t> are performed during this state.</a:t>
            </a:r>
          </a:p>
          <a:p>
            <a:pPr fontAlgn="base"/>
            <a:r>
              <a:rPr lang="en-US" dirty="0"/>
              <a:t>During this state, the data records are under manipulation and they are not saved to the database, rather they remain somewhere in a buffer in the main memory.</a:t>
            </a:r>
          </a:p>
          <a:p>
            <a:endParaRPr lang="en-US" dirty="0"/>
          </a:p>
        </p:txBody>
      </p:sp>
      <p:sp>
        <p:nvSpPr>
          <p:cNvPr id="4" name="Title 1"/>
          <p:cNvSpPr txBox="1">
            <a:spLocks/>
          </p:cNvSpPr>
          <p:nvPr/>
        </p:nvSpPr>
        <p:spPr>
          <a:xfrm>
            <a:off x="457200" y="29570"/>
            <a:ext cx="8229600" cy="42763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smtClean="0"/>
              <a:t>Transaction - States</a:t>
            </a:r>
            <a:endParaRPr lang="en-US" sz="2800" b="1" dirty="0"/>
          </a:p>
        </p:txBody>
      </p:sp>
    </p:spTree>
    <p:extLst>
      <p:ext uri="{BB962C8B-B14F-4D97-AF65-F5344CB8AC3E}">
        <p14:creationId xmlns:p14="http://schemas.microsoft.com/office/powerpoint/2010/main" val="15545657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503237"/>
            <a:ext cx="8991600" cy="4754563"/>
          </a:xfrm>
        </p:spPr>
        <p:txBody>
          <a:bodyPr>
            <a:normAutofit/>
          </a:bodyPr>
          <a:lstStyle/>
          <a:p>
            <a:pPr marL="0" indent="0" fontAlgn="base">
              <a:buNone/>
            </a:pPr>
            <a:r>
              <a:rPr lang="en-US" b="1" dirty="0"/>
              <a:t>2. Partially Committed –</a:t>
            </a:r>
            <a:r>
              <a:rPr lang="en-US" dirty="0"/>
              <a:t> </a:t>
            </a:r>
          </a:p>
          <a:p>
            <a:pPr fontAlgn="base"/>
            <a:r>
              <a:rPr lang="en-US" dirty="0"/>
              <a:t>The transaction has finished its final operation, but the changes are still not saved to the database.</a:t>
            </a:r>
          </a:p>
          <a:p>
            <a:pPr fontAlgn="base"/>
            <a:r>
              <a:rPr lang="en-US" dirty="0"/>
              <a:t>After completing all read and write operations, the modifications are initially stored in main memory or a local buffer. If the changes are made permanent on the </a:t>
            </a:r>
            <a:r>
              <a:rPr lang="en-US" dirty="0" err="1"/>
              <a:t>DataBase</a:t>
            </a:r>
            <a:r>
              <a:rPr lang="en-US" dirty="0"/>
              <a:t> then the state will change to </a:t>
            </a:r>
            <a:r>
              <a:rPr lang="en-US" b="1" dirty="0">
                <a:solidFill>
                  <a:srgbClr val="FF0000"/>
                </a:solidFill>
              </a:rPr>
              <a:t>“committed state” </a:t>
            </a:r>
            <a:r>
              <a:rPr lang="en-US" dirty="0"/>
              <a:t>and in case of failure it will go to the </a:t>
            </a:r>
            <a:r>
              <a:rPr lang="en-US" b="1" dirty="0">
                <a:solidFill>
                  <a:srgbClr val="FF0000"/>
                </a:solidFill>
              </a:rPr>
              <a:t>“failed state”.</a:t>
            </a:r>
            <a:r>
              <a:rPr lang="en-US" dirty="0"/>
              <a:t> </a:t>
            </a:r>
            <a:endParaRPr lang="en-US" dirty="0" smtClean="0"/>
          </a:p>
          <a:p>
            <a:pPr marL="0" indent="0" fontAlgn="base">
              <a:buNone/>
            </a:pPr>
            <a:endParaRPr lang="en-US" dirty="0"/>
          </a:p>
          <a:p>
            <a:endParaRPr lang="en-US" dirty="0"/>
          </a:p>
        </p:txBody>
      </p:sp>
      <p:sp>
        <p:nvSpPr>
          <p:cNvPr id="4" name="Title 1"/>
          <p:cNvSpPr txBox="1">
            <a:spLocks/>
          </p:cNvSpPr>
          <p:nvPr/>
        </p:nvSpPr>
        <p:spPr>
          <a:xfrm>
            <a:off x="457200" y="29570"/>
            <a:ext cx="8229600" cy="42763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smtClean="0"/>
              <a:t>Transaction - States</a:t>
            </a:r>
            <a:endParaRPr lang="en-US" sz="2800" b="1" dirty="0"/>
          </a:p>
        </p:txBody>
      </p:sp>
    </p:spTree>
    <p:extLst>
      <p:ext uri="{BB962C8B-B14F-4D97-AF65-F5344CB8AC3E}">
        <p14:creationId xmlns:p14="http://schemas.microsoft.com/office/powerpoint/2010/main" val="3228874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0638" y="762000"/>
            <a:ext cx="8694761" cy="6096000"/>
          </a:xfrm>
        </p:spPr>
        <p:txBody>
          <a:bodyPr>
            <a:normAutofit lnSpcReduction="10000"/>
          </a:bodyPr>
          <a:lstStyle/>
          <a:p>
            <a:r>
              <a:rPr lang="en-US" b="1" dirty="0"/>
              <a:t>3. Failed State –</a:t>
            </a:r>
            <a:r>
              <a:rPr lang="en-US" dirty="0"/>
              <a:t>If any of the transaction-related operations cause an error during the active or partially committed state, further execution of the transaction is stopped and it is brought into a failed state. Here, the database recovery system makes sure that the database is in a consistent state</a:t>
            </a:r>
            <a:r>
              <a:rPr lang="en-US" dirty="0" smtClean="0"/>
              <a:t>.</a:t>
            </a:r>
          </a:p>
          <a:p>
            <a:r>
              <a:rPr lang="en-US" b="1" dirty="0"/>
              <a:t>4</a:t>
            </a:r>
            <a:r>
              <a:rPr lang="en-US" b="1" dirty="0" smtClean="0"/>
              <a:t>. </a:t>
            </a:r>
            <a:r>
              <a:rPr lang="en-US" b="1" dirty="0"/>
              <a:t>Aborted State- </a:t>
            </a:r>
            <a:r>
              <a:rPr lang="en-US" dirty="0"/>
              <a:t>If a transaction reaches the failed state due to a failed check, the database recovery system will attempt to restore it to a consistent state. If recovery is not possible, the transaction is either rolled back or cancelled to ensure the database remains consistent.</a:t>
            </a:r>
          </a:p>
        </p:txBody>
      </p:sp>
      <p:sp>
        <p:nvSpPr>
          <p:cNvPr id="4" name="Title 1"/>
          <p:cNvSpPr txBox="1">
            <a:spLocks/>
          </p:cNvSpPr>
          <p:nvPr/>
        </p:nvSpPr>
        <p:spPr>
          <a:xfrm>
            <a:off x="457200" y="29570"/>
            <a:ext cx="8229600" cy="42763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smtClean="0"/>
              <a:t>Transaction - States</a:t>
            </a:r>
            <a:endParaRPr lang="en-US" sz="2800" b="1" dirty="0"/>
          </a:p>
        </p:txBody>
      </p:sp>
    </p:spTree>
    <p:extLst>
      <p:ext uri="{BB962C8B-B14F-4D97-AF65-F5344CB8AC3E}">
        <p14:creationId xmlns:p14="http://schemas.microsoft.com/office/powerpoint/2010/main" val="2819997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normAutofit/>
          </a:bodyPr>
          <a:lstStyle/>
          <a:p>
            <a:pPr fontAlgn="base"/>
            <a:r>
              <a:rPr lang="en-US" dirty="0"/>
              <a:t>In the aborted state, the DBMS recovery system performs one of two actions:</a:t>
            </a:r>
          </a:p>
          <a:p>
            <a:pPr fontAlgn="base"/>
            <a:r>
              <a:rPr lang="en-US" b="1" dirty="0"/>
              <a:t>Kill the transaction</a:t>
            </a:r>
            <a:r>
              <a:rPr lang="en-US" dirty="0"/>
              <a:t>: The system terminates the transaction to prevent it from affecting other operations.</a:t>
            </a:r>
          </a:p>
          <a:p>
            <a:pPr fontAlgn="base"/>
            <a:r>
              <a:rPr lang="en-US" b="1" dirty="0"/>
              <a:t>Restart the transaction</a:t>
            </a:r>
            <a:r>
              <a:rPr lang="en-US" dirty="0"/>
              <a:t>: After making necessary adjustments, the system reverts the transaction to an active state and attempts to continue its execution.</a:t>
            </a:r>
          </a:p>
          <a:p>
            <a:endParaRPr lang="en-US" dirty="0"/>
          </a:p>
        </p:txBody>
      </p:sp>
      <p:sp>
        <p:nvSpPr>
          <p:cNvPr id="4" name="Title 1"/>
          <p:cNvSpPr txBox="1">
            <a:spLocks/>
          </p:cNvSpPr>
          <p:nvPr/>
        </p:nvSpPr>
        <p:spPr>
          <a:xfrm>
            <a:off x="457200" y="29570"/>
            <a:ext cx="8229600" cy="42763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smtClean="0"/>
              <a:t>Transaction - States</a:t>
            </a:r>
            <a:endParaRPr lang="en-US" sz="2800" b="1" dirty="0"/>
          </a:p>
        </p:txBody>
      </p:sp>
    </p:spTree>
    <p:extLst>
      <p:ext uri="{BB962C8B-B14F-4D97-AF65-F5344CB8AC3E}">
        <p14:creationId xmlns:p14="http://schemas.microsoft.com/office/powerpoint/2010/main" val="3015144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457200"/>
            <a:ext cx="8382000" cy="6324600"/>
          </a:xfrm>
        </p:spPr>
        <p:txBody>
          <a:bodyPr/>
          <a:lstStyle/>
          <a:p>
            <a:pPr algn="just" fontAlgn="base"/>
            <a:r>
              <a:rPr lang="en-US" b="1" dirty="0"/>
              <a:t>6. Commuted- </a:t>
            </a:r>
            <a:r>
              <a:rPr lang="en-US" dirty="0"/>
              <a:t>This state of transaction is achieved when all the transaction-related operations have been executed successfully along with the Commit operation, i.e. data is saved into the database after the required manipulations in this state. This marks the successful completion of a transaction.</a:t>
            </a:r>
          </a:p>
          <a:p>
            <a:pPr algn="just" fontAlgn="base"/>
            <a:r>
              <a:rPr lang="en-US" b="1" dirty="0"/>
              <a:t>7. Terminated State –</a:t>
            </a:r>
            <a:r>
              <a:rPr lang="en-US" dirty="0"/>
              <a:t> If there isn’t any </a:t>
            </a:r>
            <a:r>
              <a:rPr lang="en-US" u="sng" dirty="0">
                <a:hlinkClick r:id="rId2"/>
              </a:rPr>
              <a:t>roll-back</a:t>
            </a:r>
            <a:r>
              <a:rPr lang="en-US" dirty="0"/>
              <a:t> or the transaction comes from the “committed state”, then the system is consistent and ready for new transaction and the old transaction is terminated.  </a:t>
            </a:r>
          </a:p>
        </p:txBody>
      </p:sp>
      <p:sp>
        <p:nvSpPr>
          <p:cNvPr id="4" name="Title 1"/>
          <p:cNvSpPr txBox="1">
            <a:spLocks/>
          </p:cNvSpPr>
          <p:nvPr/>
        </p:nvSpPr>
        <p:spPr>
          <a:xfrm>
            <a:off x="457200" y="29570"/>
            <a:ext cx="8229600" cy="427630"/>
          </a:xfrm>
          <a:prstGeom prst="rect">
            <a:avLst/>
          </a:prstGeo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r>
              <a:rPr lang="en-US" sz="2800" b="1" dirty="0" smtClean="0"/>
              <a:t>Transaction - States</a:t>
            </a:r>
            <a:endParaRPr lang="en-US" sz="2800" b="1" dirty="0"/>
          </a:p>
        </p:txBody>
      </p:sp>
    </p:spTree>
    <p:extLst>
      <p:ext uri="{BB962C8B-B14F-4D97-AF65-F5344CB8AC3E}">
        <p14:creationId xmlns:p14="http://schemas.microsoft.com/office/powerpoint/2010/main" val="2454765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0"/>
            <a:ext cx="8839200" cy="6629400"/>
          </a:xfrm>
        </p:spPr>
        <p:txBody>
          <a:bodyPr>
            <a:normAutofit fontScale="92500" lnSpcReduction="10000"/>
          </a:bodyPr>
          <a:lstStyle/>
          <a:p>
            <a:pPr marL="0" indent="0" fontAlgn="base">
              <a:buNone/>
            </a:pPr>
            <a:r>
              <a:rPr lang="en-US" b="1" dirty="0"/>
              <a:t>Example of Transaction States</a:t>
            </a:r>
          </a:p>
          <a:p>
            <a:pPr fontAlgn="base"/>
            <a:r>
              <a:rPr lang="en-US" dirty="0"/>
              <a:t>Imagine a bank transaction where a user wants to transfer $500 from </a:t>
            </a:r>
            <a:r>
              <a:rPr lang="en-US" b="1" dirty="0"/>
              <a:t>Account </a:t>
            </a:r>
            <a:r>
              <a:rPr lang="en-US" b="1" dirty="0">
                <a:solidFill>
                  <a:srgbClr val="FF0000"/>
                </a:solidFill>
              </a:rPr>
              <a:t>A</a:t>
            </a:r>
            <a:r>
              <a:rPr lang="en-US" dirty="0">
                <a:solidFill>
                  <a:srgbClr val="FF0000"/>
                </a:solidFill>
              </a:rPr>
              <a:t> to </a:t>
            </a:r>
            <a:r>
              <a:rPr lang="en-US" b="1" dirty="0">
                <a:solidFill>
                  <a:srgbClr val="FF0000"/>
                </a:solidFill>
              </a:rPr>
              <a:t>Account B</a:t>
            </a:r>
            <a:r>
              <a:rPr lang="en-US" dirty="0" smtClean="0">
                <a:solidFill>
                  <a:srgbClr val="FF0000"/>
                </a:solidFill>
              </a:rPr>
              <a:t>.</a:t>
            </a:r>
          </a:p>
          <a:p>
            <a:pPr marL="0" indent="0" fontAlgn="base">
              <a:buNone/>
            </a:pPr>
            <a:r>
              <a:rPr lang="en-US" b="1" dirty="0">
                <a:solidFill>
                  <a:schemeClr val="accent6">
                    <a:lumMod val="50000"/>
                  </a:schemeClr>
                </a:solidFill>
              </a:rPr>
              <a:t>Transaction States:</a:t>
            </a:r>
          </a:p>
          <a:p>
            <a:pPr fontAlgn="base"/>
            <a:r>
              <a:rPr lang="en-US" b="1" dirty="0"/>
              <a:t>Active State</a:t>
            </a:r>
            <a:r>
              <a:rPr lang="en-US" dirty="0"/>
              <a:t>:</a:t>
            </a:r>
            <a:br>
              <a:rPr lang="en-US" dirty="0"/>
            </a:br>
            <a:r>
              <a:rPr lang="en-US" dirty="0"/>
              <a:t>The transaction begins. It reads the balance of Account A and checks if it has enough funds.</a:t>
            </a:r>
          </a:p>
          <a:p>
            <a:pPr lvl="1" fontAlgn="base"/>
            <a:r>
              <a:rPr lang="en-US" dirty="0"/>
              <a:t>Example: Read balance of Account A = $1000</a:t>
            </a:r>
          </a:p>
          <a:p>
            <a:pPr fontAlgn="base"/>
            <a:r>
              <a:rPr lang="en-US" b="1" dirty="0"/>
              <a:t>Partially Committed State</a:t>
            </a:r>
            <a:r>
              <a:rPr lang="en-US" dirty="0"/>
              <a:t>:</a:t>
            </a:r>
            <a:br>
              <a:rPr lang="en-US" dirty="0"/>
            </a:br>
            <a:r>
              <a:rPr lang="en-US" dirty="0"/>
              <a:t>The transaction performs all its operations but hasn’t yet saved (committed) the changes to the database.</a:t>
            </a:r>
          </a:p>
          <a:p>
            <a:pPr lvl="1" fontAlgn="base"/>
            <a:r>
              <a:rPr lang="en-US" dirty="0"/>
              <a:t>Example: Deduct $500 from Account A’s balance ($1000 – $500 = $500) and temporarily update Account B’s balance (add $500).</a:t>
            </a:r>
          </a:p>
          <a:p>
            <a:pPr fontAlgn="base"/>
            <a:endParaRPr lang="en-US" dirty="0">
              <a:solidFill>
                <a:srgbClr val="FF0000"/>
              </a:solidFill>
            </a:endParaRPr>
          </a:p>
          <a:p>
            <a:endParaRPr lang="en-US" dirty="0"/>
          </a:p>
        </p:txBody>
      </p:sp>
    </p:spTree>
    <p:extLst>
      <p:ext uri="{BB962C8B-B14F-4D97-AF65-F5344CB8AC3E}">
        <p14:creationId xmlns:p14="http://schemas.microsoft.com/office/powerpoint/2010/main" val="398819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458200" cy="6477000"/>
          </a:xfrm>
        </p:spPr>
        <p:txBody>
          <a:bodyPr>
            <a:normAutofit/>
          </a:bodyPr>
          <a:lstStyle/>
          <a:p>
            <a:pPr fontAlgn="base"/>
            <a:r>
              <a:rPr lang="en-US" b="1" dirty="0"/>
              <a:t>Committed State</a:t>
            </a:r>
            <a:r>
              <a:rPr lang="en-US" dirty="0"/>
              <a:t>:</a:t>
            </a:r>
            <a:br>
              <a:rPr lang="en-US" dirty="0"/>
            </a:br>
            <a:r>
              <a:rPr lang="en-US" dirty="0"/>
              <a:t>The transaction successfully completes, and the changes are saved permanently in the database.</a:t>
            </a:r>
          </a:p>
          <a:p>
            <a:pPr lvl="1" fontAlgn="base"/>
            <a:r>
              <a:rPr lang="en-US" dirty="0"/>
              <a:t>Example: Account A’s new balance = $500; Account B’s new balance = $1500. Changes are written to the database.</a:t>
            </a:r>
          </a:p>
          <a:p>
            <a:pPr fontAlgn="base"/>
            <a:r>
              <a:rPr lang="en-US" b="1" dirty="0"/>
              <a:t>Failed State</a:t>
            </a:r>
            <a:r>
              <a:rPr lang="en-US" dirty="0"/>
              <a:t>:</a:t>
            </a:r>
            <a:br>
              <a:rPr lang="en-US" dirty="0"/>
            </a:br>
            <a:r>
              <a:rPr lang="en-US" dirty="0"/>
              <a:t>If something goes wrong during the transaction (e.g., power failure, system crash), the transaction moves to this state.</a:t>
            </a:r>
          </a:p>
          <a:p>
            <a:pPr lvl="1" fontAlgn="base"/>
            <a:r>
              <a:rPr lang="en-US" dirty="0"/>
              <a:t>Example: System crashes after deducting $500 from Account A but before adding it to Account B.</a:t>
            </a:r>
          </a:p>
          <a:p>
            <a:endParaRPr lang="en-US" dirty="0"/>
          </a:p>
        </p:txBody>
      </p:sp>
    </p:spTree>
    <p:extLst>
      <p:ext uri="{BB962C8B-B14F-4D97-AF65-F5344CB8AC3E}">
        <p14:creationId xmlns:p14="http://schemas.microsoft.com/office/powerpoint/2010/main" val="291340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04800"/>
            <a:ext cx="8610600" cy="5821363"/>
          </a:xfrm>
        </p:spPr>
        <p:txBody>
          <a:bodyPr/>
          <a:lstStyle/>
          <a:p>
            <a:pPr fontAlgn="base"/>
            <a:r>
              <a:rPr lang="en-US" b="1" dirty="0"/>
              <a:t>Aborted State</a:t>
            </a:r>
            <a:r>
              <a:rPr lang="en-US" dirty="0"/>
              <a:t>:</a:t>
            </a:r>
            <a:br>
              <a:rPr lang="en-US" dirty="0"/>
            </a:br>
            <a:r>
              <a:rPr lang="en-US" dirty="0"/>
              <a:t>The failed transaction is rolled back, and the database is restored to its original state.</a:t>
            </a:r>
          </a:p>
          <a:p>
            <a:pPr lvl="1" fontAlgn="base"/>
            <a:r>
              <a:rPr lang="en-US" dirty="0"/>
              <a:t>Example: Account A’s balance is restored to $1000, and no changes are made to Account B.</a:t>
            </a:r>
          </a:p>
          <a:p>
            <a:r>
              <a:rPr lang="en-US" dirty="0"/>
              <a:t>These states ensure that either the transaction completes successfully (</a:t>
            </a:r>
            <a:r>
              <a:rPr lang="en-US" b="1" dirty="0"/>
              <a:t>committed</a:t>
            </a:r>
            <a:r>
              <a:rPr lang="en-US" dirty="0"/>
              <a:t>) or the database is restored to its original state (</a:t>
            </a:r>
            <a:r>
              <a:rPr lang="en-US" b="1" dirty="0"/>
              <a:t>aborted</a:t>
            </a:r>
            <a:r>
              <a:rPr lang="en-US" dirty="0"/>
              <a:t>), maintaining consistency and preventing errors.</a:t>
            </a:r>
          </a:p>
        </p:txBody>
      </p:sp>
    </p:spTree>
    <p:extLst>
      <p:ext uri="{BB962C8B-B14F-4D97-AF65-F5344CB8AC3E}">
        <p14:creationId xmlns:p14="http://schemas.microsoft.com/office/powerpoint/2010/main" val="2549899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457200"/>
          </a:xfrm>
        </p:spPr>
        <p:style>
          <a:lnRef idx="1">
            <a:schemeClr val="accent1"/>
          </a:lnRef>
          <a:fillRef idx="2">
            <a:schemeClr val="accent1"/>
          </a:fillRef>
          <a:effectRef idx="1">
            <a:schemeClr val="accent1"/>
          </a:effectRef>
          <a:fontRef idx="minor">
            <a:schemeClr val="dk1"/>
          </a:fontRef>
        </p:style>
        <p:txBody>
          <a:bodyPr vert="horz" lIns="91440" tIns="45720" rIns="91440" bIns="45720" rtlCol="0" anchor="ctr">
            <a:noAutofit/>
          </a:bodyPr>
          <a:lstStyle/>
          <a:p>
            <a:r>
              <a:rPr lang="en-US" sz="2800" b="1" dirty="0">
                <a:solidFill>
                  <a:schemeClr val="dk1"/>
                </a:solidFill>
                <a:latin typeface="+mn-lt"/>
                <a:ea typeface="+mn-ea"/>
                <a:cs typeface="+mn-cs"/>
              </a:rPr>
              <a:t>Schedule</a:t>
            </a:r>
          </a:p>
        </p:txBody>
      </p:sp>
      <p:sp>
        <p:nvSpPr>
          <p:cNvPr id="3" name="Content Placeholder 2"/>
          <p:cNvSpPr>
            <a:spLocks noGrp="1"/>
          </p:cNvSpPr>
          <p:nvPr>
            <p:ph idx="1"/>
          </p:nvPr>
        </p:nvSpPr>
        <p:spPr>
          <a:xfrm>
            <a:off x="304800" y="838200"/>
            <a:ext cx="8229600" cy="4525963"/>
          </a:xfrm>
        </p:spPr>
        <p:txBody>
          <a:bodyPr>
            <a:normAutofit lnSpcReduction="10000"/>
          </a:bodyPr>
          <a:lstStyle/>
          <a:p>
            <a:pPr algn="just"/>
            <a:r>
              <a:rPr lang="en-US" dirty="0"/>
              <a:t>Schedule, as the name suggests, is a process of lining the transactions and executing them one by one</a:t>
            </a:r>
            <a:r>
              <a:rPr lang="en-US" dirty="0" smtClean="0"/>
              <a:t>.</a:t>
            </a:r>
          </a:p>
          <a:p>
            <a:pPr algn="just"/>
            <a:r>
              <a:rPr lang="en-US" dirty="0" smtClean="0"/>
              <a:t> </a:t>
            </a:r>
            <a:r>
              <a:rPr lang="en-US" dirty="0"/>
              <a:t>When there are multiple transactions that are running in a concurrent manner and the order of operation is needed to be set so that the operations do not overlap each other, Scheduling is brought into play and the transactions are timed accordingly. </a:t>
            </a:r>
          </a:p>
        </p:txBody>
      </p:sp>
    </p:spTree>
    <p:extLst>
      <p:ext uri="{BB962C8B-B14F-4D97-AF65-F5344CB8AC3E}">
        <p14:creationId xmlns:p14="http://schemas.microsoft.com/office/powerpoint/2010/main" val="2629870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11217" y="274638"/>
            <a:ext cx="8921566" cy="6583362"/>
          </a:xfrm>
          <a:prstGeom prst="rect">
            <a:avLst/>
          </a:prstGeom>
        </p:spPr>
      </p:pic>
    </p:spTree>
    <p:extLst>
      <p:ext uri="{BB962C8B-B14F-4D97-AF65-F5344CB8AC3E}">
        <p14:creationId xmlns:p14="http://schemas.microsoft.com/office/powerpoint/2010/main" val="1585329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52400"/>
            <a:ext cx="8839200" cy="5973763"/>
          </a:xfrm>
        </p:spPr>
        <p:txBody>
          <a:bodyPr/>
          <a:lstStyle/>
          <a:p>
            <a:r>
              <a:rPr lang="en-US" b="1" dirty="0"/>
              <a:t>Serial Schedules:</a:t>
            </a:r>
            <a:r>
              <a:rPr lang="en-US" dirty="0"/>
              <a:t> Schedules in which the transactions are executed non-interleaved, i.e., a serial schedule is one in which no transaction starts until a running transaction has ended are called serial schedules. </a:t>
            </a:r>
            <a:endParaRPr lang="en-US" dirty="0" smtClean="0"/>
          </a:p>
          <a:p>
            <a:r>
              <a:rPr lang="en-US" b="1" dirty="0" smtClean="0"/>
              <a:t>Example</a:t>
            </a:r>
            <a:r>
              <a:rPr lang="en-US" b="1" dirty="0"/>
              <a:t>: </a:t>
            </a:r>
            <a:r>
              <a:rPr lang="en-US" dirty="0"/>
              <a:t>Consider the following schedule involving two transactions T </a:t>
            </a:r>
            <a:r>
              <a:rPr lang="en-US" baseline="-25000" dirty="0"/>
              <a:t>1 </a:t>
            </a:r>
            <a:r>
              <a:rPr lang="en-US" dirty="0"/>
              <a:t>and T </a:t>
            </a:r>
            <a:r>
              <a:rPr lang="en-US" baseline="-25000" dirty="0"/>
              <a:t>2 </a:t>
            </a:r>
            <a:r>
              <a:rPr lang="en-US" dirty="0"/>
              <a:t>.</a:t>
            </a:r>
          </a:p>
        </p:txBody>
      </p:sp>
    </p:spTree>
    <p:extLst>
      <p:ext uri="{BB962C8B-B14F-4D97-AF65-F5344CB8AC3E}">
        <p14:creationId xmlns:p14="http://schemas.microsoft.com/office/powerpoint/2010/main" val="2442265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7200" y="457200"/>
            <a:ext cx="1828800" cy="5334000"/>
          </a:xfrm>
          <a:prstGeom prst="rect">
            <a:avLst/>
          </a:prstGeom>
        </p:spPr>
      </p:pic>
      <p:sp>
        <p:nvSpPr>
          <p:cNvPr id="5" name="TextBox 4"/>
          <p:cNvSpPr txBox="1"/>
          <p:nvPr/>
        </p:nvSpPr>
        <p:spPr>
          <a:xfrm>
            <a:off x="2270078" y="1676400"/>
            <a:ext cx="6721521" cy="2677656"/>
          </a:xfrm>
          <a:prstGeom prst="rect">
            <a:avLst/>
          </a:prstGeom>
          <a:noFill/>
        </p:spPr>
        <p:txBody>
          <a:bodyPr wrap="square" rtlCol="0">
            <a:spAutoFit/>
          </a:bodyPr>
          <a:lstStyle/>
          <a:p>
            <a:r>
              <a:rPr lang="en-US" sz="2800" b="1" u="sng" dirty="0" smtClean="0">
                <a:solidFill>
                  <a:srgbClr val="C00000"/>
                </a:solidFill>
                <a:latin typeface="Times New Roman" panose="02020603050405020304" pitchFamily="18" charset="0"/>
                <a:cs typeface="Times New Roman" panose="02020603050405020304" pitchFamily="18" charset="0"/>
              </a:rPr>
              <a:t>In serial transaction:</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Only one transaction at a time is active.</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The commit or a abort of the active transaction initiates execution of the next transaction.</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No interleaving occurs in serial schedules.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8607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04800"/>
            <a:ext cx="8763000" cy="5592763"/>
          </a:xfrm>
        </p:spPr>
        <p:txBody>
          <a:bodyPr/>
          <a:lstStyle/>
          <a:p>
            <a:pPr marL="0" indent="0" fontAlgn="base">
              <a:buNone/>
            </a:pPr>
            <a:r>
              <a:rPr lang="en-US" b="1" dirty="0">
                <a:solidFill>
                  <a:srgbClr val="C00000"/>
                </a:solidFill>
              </a:rPr>
              <a:t>Non-serial Schedule</a:t>
            </a:r>
          </a:p>
          <a:p>
            <a:pPr fontAlgn="base"/>
            <a:r>
              <a:rPr lang="en-US" dirty="0"/>
              <a:t>A schedule where the transactions are overlapping or switching places. As they are used to carry out actual database operations, multiple transactions are running at once</a:t>
            </a:r>
            <a:r>
              <a:rPr lang="en-US" dirty="0" smtClean="0"/>
              <a:t>.</a:t>
            </a:r>
          </a:p>
          <a:p>
            <a:pPr fontAlgn="base"/>
            <a:r>
              <a:rPr lang="en-US" dirty="0" smtClean="0"/>
              <a:t> </a:t>
            </a:r>
            <a:r>
              <a:rPr lang="en-US" dirty="0"/>
              <a:t>It's possible that these transactions are focusing on the same data set. Therefore, it is crucial that non-serial schedules can be serialized in order for our database to be consistent both before and after the transactions are executed.</a:t>
            </a:r>
          </a:p>
          <a:p>
            <a:endParaRPr lang="en-US" dirty="0"/>
          </a:p>
        </p:txBody>
      </p:sp>
    </p:spTree>
    <p:extLst>
      <p:ext uri="{BB962C8B-B14F-4D97-AF65-F5344CB8AC3E}">
        <p14:creationId xmlns:p14="http://schemas.microsoft.com/office/powerpoint/2010/main" val="38496421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6477000"/>
          </a:xfrm>
        </p:spPr>
        <p:txBody>
          <a:bodyPr>
            <a:normAutofit fontScale="92500" lnSpcReduction="20000"/>
          </a:bodyPr>
          <a:lstStyle/>
          <a:p>
            <a:r>
              <a:rPr lang="en-US" b="1" dirty="0"/>
              <a:t>Non-Serial Schedule:</a:t>
            </a:r>
            <a:r>
              <a:rPr lang="en-US" dirty="0"/>
              <a:t> </a:t>
            </a:r>
            <a:endParaRPr lang="en-US" dirty="0" smtClean="0"/>
          </a:p>
          <a:p>
            <a:r>
              <a:rPr lang="en-US" dirty="0" smtClean="0"/>
              <a:t>This </a:t>
            </a:r>
            <a:r>
              <a:rPr lang="en-US" dirty="0"/>
              <a:t>is a type of Scheduling where the operations of multiple transactions are interleaved. This might lead to a rise in the concurrency problem. </a:t>
            </a:r>
            <a:endParaRPr lang="en-US" dirty="0" smtClean="0"/>
          </a:p>
          <a:p>
            <a:r>
              <a:rPr lang="en-US" dirty="0" smtClean="0"/>
              <a:t>The </a:t>
            </a:r>
            <a:r>
              <a:rPr lang="en-US" dirty="0"/>
              <a:t>transactions are executed in a non-serial manner, keeping the end result correct and same as the serial schedule. Unlike the serial schedule where one transaction must wait for another to complete all its operation, in the non-serial schedule, the other transaction proceeds without waiting for the previous transaction to complete. </a:t>
            </a:r>
            <a:endParaRPr lang="en-US" dirty="0" smtClean="0"/>
          </a:p>
          <a:p>
            <a:r>
              <a:rPr lang="en-US" dirty="0" smtClean="0"/>
              <a:t>This </a:t>
            </a:r>
            <a:r>
              <a:rPr lang="en-US" dirty="0"/>
              <a:t>sort of schedule does not provide any benefit of the concurrent transaction. It can be of two types namely, </a:t>
            </a:r>
            <a:r>
              <a:rPr lang="en-US" b="1" dirty="0" err="1"/>
              <a:t>Serializable</a:t>
            </a:r>
            <a:r>
              <a:rPr lang="en-US" dirty="0"/>
              <a:t> and </a:t>
            </a:r>
            <a:r>
              <a:rPr lang="en-US" b="1" dirty="0"/>
              <a:t>Non-</a:t>
            </a:r>
            <a:r>
              <a:rPr lang="en-US" b="1" dirty="0" err="1"/>
              <a:t>Serializable</a:t>
            </a:r>
            <a:r>
              <a:rPr lang="en-US" dirty="0"/>
              <a:t> Schedule. The Non-Serial Schedule can be divided further into </a:t>
            </a:r>
            <a:r>
              <a:rPr lang="en-US" b="1" dirty="0" err="1"/>
              <a:t>Serializable</a:t>
            </a:r>
            <a:r>
              <a:rPr lang="en-US" dirty="0"/>
              <a:t> and </a:t>
            </a:r>
            <a:r>
              <a:rPr lang="en-US" b="1" dirty="0"/>
              <a:t>Non-</a:t>
            </a:r>
            <a:r>
              <a:rPr lang="en-US" b="1" dirty="0" err="1"/>
              <a:t>Serializable</a:t>
            </a:r>
            <a:r>
              <a:rPr lang="en-US" dirty="0"/>
              <a:t>.</a:t>
            </a:r>
          </a:p>
        </p:txBody>
      </p:sp>
    </p:spTree>
    <p:extLst>
      <p:ext uri="{BB962C8B-B14F-4D97-AF65-F5344CB8AC3E}">
        <p14:creationId xmlns:p14="http://schemas.microsoft.com/office/powerpoint/2010/main" val="4364236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7200" y="274637"/>
            <a:ext cx="2971800" cy="6402659"/>
          </a:xfrm>
          <a:prstGeom prst="rect">
            <a:avLst/>
          </a:prstGeom>
        </p:spPr>
      </p:pic>
      <p:sp>
        <p:nvSpPr>
          <p:cNvPr id="5" name="TextBox 4"/>
          <p:cNvSpPr txBox="1"/>
          <p:nvPr/>
        </p:nvSpPr>
        <p:spPr>
          <a:xfrm>
            <a:off x="3706505" y="352246"/>
            <a:ext cx="5410199" cy="6124754"/>
          </a:xfrm>
          <a:prstGeom prst="rect">
            <a:avLst/>
          </a:prstGeom>
          <a:noFill/>
        </p:spPr>
        <p:txBody>
          <a:bodyPr wrap="square" rtlCol="0">
            <a:spAutoFit/>
          </a:bodyPr>
          <a:lstStyle/>
          <a:p>
            <a:r>
              <a:rPr lang="en-US" sz="2800" b="1" u="sng" dirty="0" smtClean="0">
                <a:solidFill>
                  <a:srgbClr val="C00000"/>
                </a:solidFill>
                <a:latin typeface="Times New Roman" panose="02020603050405020304" pitchFamily="18" charset="0"/>
                <a:cs typeface="Times New Roman" panose="02020603050405020304" pitchFamily="18" charset="0"/>
              </a:rPr>
              <a:t>Interleaving:</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In a serial schedule, if a transaction waits for an I/O operation to complete, idle CPU time is generated and wasted for lack of use.</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Other transactions may also be in line waiting for the completion of a transaction.</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For these reasons, serial schedules are generally considered unacceptable in practice.</a:t>
            </a:r>
          </a:p>
          <a:p>
            <a:pPr marL="342900" indent="-342900">
              <a:buAutoNum type="arabicPeriod"/>
            </a:pPr>
            <a:r>
              <a:rPr lang="en-US" sz="2800" dirty="0" smtClean="0">
                <a:latin typeface="Times New Roman" panose="02020603050405020304" pitchFamily="18" charset="0"/>
                <a:cs typeface="Times New Roman" panose="02020603050405020304" pitchFamily="18" charset="0"/>
              </a:rPr>
              <a:t>Interleaving could improve the use of the CPU cycles.</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1088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49"/>
            <a:ext cx="8229600" cy="605051"/>
          </a:xfrm>
        </p:spPr>
        <p:txBody>
          <a:bodyPr>
            <a:normAutofit fontScale="90000"/>
          </a:bodyPr>
          <a:lstStyle/>
          <a:p>
            <a:r>
              <a:rPr lang="en-US" b="1" dirty="0" err="1" smtClean="0"/>
              <a:t>Serializability</a:t>
            </a:r>
            <a:endParaRPr lang="en-US" b="1" dirty="0"/>
          </a:p>
        </p:txBody>
      </p:sp>
      <p:sp>
        <p:nvSpPr>
          <p:cNvPr id="3" name="Content Placeholder 2"/>
          <p:cNvSpPr>
            <a:spLocks noGrp="1"/>
          </p:cNvSpPr>
          <p:nvPr>
            <p:ph idx="1"/>
          </p:nvPr>
        </p:nvSpPr>
        <p:spPr>
          <a:xfrm>
            <a:off x="228600" y="609600"/>
            <a:ext cx="8458200" cy="6019800"/>
          </a:xfrm>
        </p:spPr>
        <p:txBody>
          <a:bodyPr/>
          <a:lstStyle/>
          <a:p>
            <a:r>
              <a:rPr lang="en-US" dirty="0"/>
              <a:t>If a non-serial schedule can be transformed into its corresponding serial schedule, it is said to be </a:t>
            </a:r>
            <a:r>
              <a:rPr lang="en-US" dirty="0" err="1"/>
              <a:t>serializable</a:t>
            </a:r>
            <a:r>
              <a:rPr lang="en-US" dirty="0" smtClean="0"/>
              <a:t>.</a:t>
            </a:r>
          </a:p>
          <a:p>
            <a:r>
              <a:rPr lang="en-US" dirty="0" smtClean="0"/>
              <a:t> </a:t>
            </a:r>
            <a:r>
              <a:rPr lang="en-US" dirty="0"/>
              <a:t>Simply said, a non-serial schedule is referred to as a </a:t>
            </a:r>
            <a:r>
              <a:rPr lang="en-US" dirty="0" err="1"/>
              <a:t>serializable</a:t>
            </a:r>
            <a:r>
              <a:rPr lang="en-US" dirty="0"/>
              <a:t> schedule if it yields the same results as a serial timetable</a:t>
            </a:r>
            <a:r>
              <a:rPr lang="en-US" dirty="0" smtClean="0"/>
              <a:t>.</a:t>
            </a:r>
          </a:p>
          <a:p>
            <a:endParaRPr lang="en-US" dirty="0"/>
          </a:p>
        </p:txBody>
      </p:sp>
    </p:spTree>
    <p:extLst>
      <p:ext uri="{BB962C8B-B14F-4D97-AF65-F5344CB8AC3E}">
        <p14:creationId xmlns:p14="http://schemas.microsoft.com/office/powerpoint/2010/main" val="3343348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style>
          <a:lnRef idx="1">
            <a:schemeClr val="accent2"/>
          </a:lnRef>
          <a:fillRef idx="3">
            <a:schemeClr val="accent2"/>
          </a:fillRef>
          <a:effectRef idx="2">
            <a:schemeClr val="accent2"/>
          </a:effectRef>
          <a:fontRef idx="minor">
            <a:schemeClr val="lt1"/>
          </a:fontRef>
        </p:style>
        <p:txBody>
          <a:bodyPr>
            <a:normAutofit fontScale="90000"/>
          </a:bodyPr>
          <a:lstStyle/>
          <a:p>
            <a:r>
              <a:rPr lang="en-US" dirty="0" smtClean="0"/>
              <a:t>Types of </a:t>
            </a:r>
            <a:r>
              <a:rPr lang="en-US" dirty="0" err="1" smtClean="0"/>
              <a:t>Serializability</a:t>
            </a:r>
            <a:endParaRPr lang="en-US" dirty="0"/>
          </a:p>
        </p:txBody>
      </p:sp>
      <p:pic>
        <p:nvPicPr>
          <p:cNvPr id="4" name="Picture 3"/>
          <p:cNvPicPr>
            <a:picLocks noChangeAspect="1"/>
          </p:cNvPicPr>
          <p:nvPr/>
        </p:nvPicPr>
        <p:blipFill>
          <a:blip r:embed="rId2"/>
          <a:stretch>
            <a:fillRect/>
          </a:stretch>
        </p:blipFill>
        <p:spPr>
          <a:xfrm>
            <a:off x="304800" y="914400"/>
            <a:ext cx="8382000" cy="3657600"/>
          </a:xfrm>
          <a:prstGeom prst="rect">
            <a:avLst/>
          </a:prstGeom>
        </p:spPr>
      </p:pic>
      <p:sp>
        <p:nvSpPr>
          <p:cNvPr id="5" name="TextBox 4"/>
          <p:cNvSpPr txBox="1"/>
          <p:nvPr/>
        </p:nvSpPr>
        <p:spPr>
          <a:xfrm>
            <a:off x="304800" y="4776716"/>
            <a:ext cx="8610600" cy="1815882"/>
          </a:xfrm>
          <a:prstGeom prst="rect">
            <a:avLst/>
          </a:prstGeom>
          <a:noFill/>
        </p:spPr>
        <p:txBody>
          <a:bodyPr wrap="square" rtlCol="0">
            <a:spAutoFit/>
          </a:bodyPr>
          <a:lstStyle/>
          <a:p>
            <a:r>
              <a:rPr lang="en-US" sz="2800" b="1" dirty="0" smtClean="0">
                <a:solidFill>
                  <a:srgbClr val="C00000"/>
                </a:solidFill>
              </a:rPr>
              <a:t>Conditions for Conflicts:</a:t>
            </a:r>
          </a:p>
          <a:p>
            <a:pPr marL="342900" indent="-342900">
              <a:buAutoNum type="arabicPeriod"/>
            </a:pPr>
            <a:r>
              <a:rPr lang="en-US" sz="2800" b="1" dirty="0" smtClean="0"/>
              <a:t>They belong to different transactions.</a:t>
            </a:r>
          </a:p>
          <a:p>
            <a:pPr marL="342900" indent="-342900">
              <a:buAutoNum type="arabicPeriod"/>
            </a:pPr>
            <a:r>
              <a:rPr lang="en-US" sz="2800" b="1" dirty="0" smtClean="0"/>
              <a:t>They access the same time.</a:t>
            </a:r>
          </a:p>
          <a:p>
            <a:pPr marL="342900" indent="-342900">
              <a:buAutoNum type="arabicPeriod"/>
            </a:pPr>
            <a:r>
              <a:rPr lang="en-US" sz="2800" b="1" dirty="0" smtClean="0"/>
              <a:t>At least one of the operation is a Write operation</a:t>
            </a:r>
            <a:endParaRPr lang="en-US" sz="2800" b="1" dirty="0"/>
          </a:p>
        </p:txBody>
      </p:sp>
    </p:spTree>
    <p:extLst>
      <p:ext uri="{BB962C8B-B14F-4D97-AF65-F5344CB8AC3E}">
        <p14:creationId xmlns:p14="http://schemas.microsoft.com/office/powerpoint/2010/main" val="8244461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0"/>
            <a:ext cx="8686800" cy="5486400"/>
          </a:xfrm>
        </p:spPr>
        <p:txBody>
          <a:bodyPr>
            <a:normAutofit/>
          </a:bodyPr>
          <a:lstStyle/>
          <a:p>
            <a:pPr algn="just" fontAlgn="base"/>
            <a:r>
              <a:rPr lang="en-US" dirty="0" smtClean="0"/>
              <a:t>It</a:t>
            </a:r>
            <a:r>
              <a:rPr lang="en-US" dirty="0"/>
              <a:t> refers to a subset of </a:t>
            </a:r>
            <a:r>
              <a:rPr lang="en-US" dirty="0" err="1"/>
              <a:t>serializability</a:t>
            </a:r>
            <a:r>
              <a:rPr lang="en-US" dirty="0"/>
              <a:t> that focuses on maintaining the consistency of a database while ensuring that identical data items are executed in an order. </a:t>
            </a:r>
            <a:endParaRPr lang="en-US" dirty="0" smtClean="0"/>
          </a:p>
          <a:p>
            <a:pPr algn="just" fontAlgn="base"/>
            <a:r>
              <a:rPr lang="en-US" dirty="0" smtClean="0"/>
              <a:t>In </a:t>
            </a:r>
            <a:r>
              <a:rPr lang="en-US" dirty="0"/>
              <a:t>a DBMS each transaction has a value and all the transactions, in the database rely on this uniqueness. This uniqueness ensures that no two operations with the conflict value can occur simultaneously.</a:t>
            </a:r>
          </a:p>
          <a:p>
            <a:endParaRPr lang="en-US" dirty="0"/>
          </a:p>
        </p:txBody>
      </p:sp>
      <p:sp>
        <p:nvSpPr>
          <p:cNvPr id="4" name="Title 1"/>
          <p:cNvSpPr>
            <a:spLocks noGrp="1"/>
          </p:cNvSpPr>
          <p:nvPr>
            <p:ph type="title"/>
          </p:nvPr>
        </p:nvSpPr>
        <p:spPr>
          <a:xfrm>
            <a:off x="457200" y="76200"/>
            <a:ext cx="8229600" cy="457200"/>
          </a:xfrm>
        </p:spPr>
        <p:style>
          <a:lnRef idx="1">
            <a:schemeClr val="accent2"/>
          </a:lnRef>
          <a:fillRef idx="3">
            <a:schemeClr val="accent2"/>
          </a:fillRef>
          <a:effectRef idx="2">
            <a:schemeClr val="accent2"/>
          </a:effectRef>
          <a:fontRef idx="minor">
            <a:schemeClr val="lt1"/>
          </a:fontRef>
        </p:style>
        <p:txBody>
          <a:bodyPr>
            <a:normAutofit fontScale="90000"/>
          </a:bodyPr>
          <a:lstStyle/>
          <a:p>
            <a:r>
              <a:rPr lang="en-US" dirty="0" smtClean="0"/>
              <a:t>Conflict </a:t>
            </a:r>
            <a:r>
              <a:rPr lang="en-US" dirty="0" err="1" smtClean="0"/>
              <a:t>Serializability</a:t>
            </a:r>
            <a:endParaRPr lang="en-US" dirty="0"/>
          </a:p>
        </p:txBody>
      </p:sp>
    </p:spTree>
    <p:extLst>
      <p:ext uri="{BB962C8B-B14F-4D97-AF65-F5344CB8AC3E}">
        <p14:creationId xmlns:p14="http://schemas.microsoft.com/office/powerpoint/2010/main" val="1581151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152400"/>
            <a:ext cx="8991600" cy="6553200"/>
          </a:xfrm>
        </p:spPr>
        <p:txBody>
          <a:bodyPr>
            <a:normAutofit/>
          </a:bodyPr>
          <a:lstStyle/>
          <a:p>
            <a:pPr marL="0" indent="0" fontAlgn="base">
              <a:buNone/>
            </a:pPr>
            <a:r>
              <a:rPr lang="en-US" dirty="0"/>
              <a:t>For example lets consider an order table and a customer table as two instances. Each order is associated with one customer even though a single client may place orders. However there are restrictions for achieving conflict </a:t>
            </a:r>
            <a:r>
              <a:rPr lang="en-US" dirty="0" err="1"/>
              <a:t>serializability</a:t>
            </a:r>
            <a:r>
              <a:rPr lang="en-US" dirty="0"/>
              <a:t> in the database.</a:t>
            </a:r>
          </a:p>
          <a:p>
            <a:pPr marL="514350" indent="-514350" fontAlgn="base">
              <a:buFont typeface="+mj-lt"/>
              <a:buAutoNum type="arabicPeriod"/>
            </a:pPr>
            <a:r>
              <a:rPr lang="en-US" b="1" dirty="0" smtClean="0">
                <a:solidFill>
                  <a:srgbClr val="C00000"/>
                </a:solidFill>
              </a:rPr>
              <a:t>Different </a:t>
            </a:r>
            <a:r>
              <a:rPr lang="en-US" b="1" dirty="0">
                <a:solidFill>
                  <a:srgbClr val="C00000"/>
                </a:solidFill>
              </a:rPr>
              <a:t>transactions should be used for the two procedures.</a:t>
            </a:r>
          </a:p>
          <a:p>
            <a:pPr marL="514350" indent="-514350" fontAlgn="base">
              <a:buFont typeface="+mj-lt"/>
              <a:buAutoNum type="arabicPeriod"/>
            </a:pPr>
            <a:r>
              <a:rPr lang="en-US" b="1" dirty="0">
                <a:solidFill>
                  <a:srgbClr val="C00000"/>
                </a:solidFill>
              </a:rPr>
              <a:t>The identical data item should be present in both transactions.</a:t>
            </a:r>
          </a:p>
          <a:p>
            <a:pPr marL="514350" indent="-514350" fontAlgn="base">
              <a:buFont typeface="+mj-lt"/>
              <a:buAutoNum type="arabicPeriod"/>
            </a:pPr>
            <a:r>
              <a:rPr lang="en-US" b="1" dirty="0">
                <a:solidFill>
                  <a:srgbClr val="C00000"/>
                </a:solidFill>
              </a:rPr>
              <a:t>Between the two operations, there should be at least one write operation.</a:t>
            </a:r>
          </a:p>
          <a:p>
            <a:endParaRPr lang="en-US" dirty="0"/>
          </a:p>
        </p:txBody>
      </p:sp>
    </p:spTree>
    <p:extLst>
      <p:ext uri="{BB962C8B-B14F-4D97-AF65-F5344CB8AC3E}">
        <p14:creationId xmlns:p14="http://schemas.microsoft.com/office/powerpoint/2010/main" val="2694085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p:cNvPicPr>
            <a:picLocks noGrp="1" noChangeAspect="1"/>
          </p:cNvPicPr>
          <p:nvPr>
            <p:ph idx="1"/>
          </p:nvPr>
        </p:nvPicPr>
        <p:blipFill>
          <a:blip r:embed="rId2"/>
          <a:stretch>
            <a:fillRect/>
          </a:stretch>
        </p:blipFill>
        <p:spPr>
          <a:xfrm>
            <a:off x="381000" y="1059597"/>
            <a:ext cx="5638800" cy="5806622"/>
          </a:xfrm>
          <a:prstGeom prst="rect">
            <a:avLst/>
          </a:prstGeom>
        </p:spPr>
      </p:pic>
      <p:sp>
        <p:nvSpPr>
          <p:cNvPr id="4" name="Rectangle 3"/>
          <p:cNvSpPr/>
          <p:nvPr/>
        </p:nvSpPr>
        <p:spPr>
          <a:xfrm>
            <a:off x="152400" y="228600"/>
            <a:ext cx="8686800" cy="830997"/>
          </a:xfrm>
          <a:prstGeom prst="rect">
            <a:avLst/>
          </a:prstGeom>
        </p:spPr>
        <p:txBody>
          <a:bodyPr wrap="square">
            <a:spAutoFit/>
          </a:bodyPr>
          <a:lstStyle/>
          <a:p>
            <a:r>
              <a:rPr lang="en-US" sz="2400" dirty="0">
                <a:solidFill>
                  <a:srgbClr val="273239"/>
                </a:solidFill>
                <a:latin typeface="Times New Roman" panose="02020603050405020304" pitchFamily="18" charset="0"/>
                <a:cs typeface="Times New Roman" panose="02020603050405020304" pitchFamily="18" charset="0"/>
              </a:rPr>
              <a:t>Three </a:t>
            </a:r>
            <a:r>
              <a:rPr lang="en-US" sz="2400" b="1" dirty="0">
                <a:solidFill>
                  <a:srgbClr val="C00000"/>
                </a:solidFill>
                <a:latin typeface="Times New Roman" panose="02020603050405020304" pitchFamily="18" charset="0"/>
                <a:cs typeface="Times New Roman" panose="02020603050405020304" pitchFamily="18" charset="0"/>
              </a:rPr>
              <a:t>transactions—t1, t2, and t3—are </a:t>
            </a:r>
            <a:r>
              <a:rPr lang="en-US" sz="2400" dirty="0">
                <a:solidFill>
                  <a:srgbClr val="273239"/>
                </a:solidFill>
                <a:latin typeface="Times New Roman" panose="02020603050405020304" pitchFamily="18" charset="0"/>
                <a:cs typeface="Times New Roman" panose="02020603050405020304" pitchFamily="18" charset="0"/>
              </a:rPr>
              <a:t>active on a schedule </a:t>
            </a:r>
            <a:r>
              <a:rPr lang="en-US" sz="2400" b="1" dirty="0">
                <a:solidFill>
                  <a:srgbClr val="C00000"/>
                </a:solidFill>
                <a:latin typeface="Times New Roman" panose="02020603050405020304" pitchFamily="18" charset="0"/>
                <a:cs typeface="Times New Roman" panose="02020603050405020304" pitchFamily="18" charset="0"/>
              </a:rPr>
              <a:t>"S"</a:t>
            </a:r>
            <a:r>
              <a:rPr lang="en-US" sz="2400" dirty="0">
                <a:solidFill>
                  <a:srgbClr val="273239"/>
                </a:solidFill>
                <a:latin typeface="Times New Roman" panose="02020603050405020304" pitchFamily="18" charset="0"/>
                <a:cs typeface="Times New Roman" panose="02020603050405020304" pitchFamily="18" charset="0"/>
              </a:rPr>
              <a:t> at once. Let's create a graph of precedence.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3731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838200" y="169115"/>
            <a:ext cx="6934200" cy="3694066"/>
          </a:xfrm>
          <a:prstGeom prst="rect">
            <a:avLst/>
          </a:prstGeom>
        </p:spPr>
      </p:pic>
      <p:sp>
        <p:nvSpPr>
          <p:cNvPr id="5" name="Rectangle 4"/>
          <p:cNvSpPr/>
          <p:nvPr/>
        </p:nvSpPr>
        <p:spPr>
          <a:xfrm>
            <a:off x="228600" y="4521243"/>
            <a:ext cx="8458200" cy="1938992"/>
          </a:xfrm>
          <a:prstGeom prst="rect">
            <a:avLst/>
          </a:prstGeom>
        </p:spPr>
        <p:txBody>
          <a:bodyPr wrap="square">
            <a:spAutoFit/>
          </a:bodyPr>
          <a:lstStyle/>
          <a:p>
            <a:pPr algn="just" fontAlgn="base"/>
            <a:r>
              <a:rPr lang="en-US" sz="2400" dirty="0">
                <a:solidFill>
                  <a:srgbClr val="273239"/>
                </a:solidFill>
                <a:latin typeface="Times New Roman" panose="02020603050405020304" pitchFamily="18" charset="0"/>
                <a:cs typeface="Times New Roman" panose="02020603050405020304" pitchFamily="18" charset="0"/>
              </a:rPr>
              <a:t>As there is no incoming edge on </a:t>
            </a:r>
            <a:r>
              <a:rPr lang="en-US" sz="2400" b="1" dirty="0">
                <a:solidFill>
                  <a:srgbClr val="FF0000"/>
                </a:solidFill>
                <a:latin typeface="Times New Roman" panose="02020603050405020304" pitchFamily="18" charset="0"/>
                <a:cs typeface="Times New Roman" panose="02020603050405020304" pitchFamily="18" charset="0"/>
              </a:rPr>
              <a:t>Transaction 1</a:t>
            </a:r>
            <a:r>
              <a:rPr lang="en-US" sz="2400" dirty="0">
                <a:solidFill>
                  <a:srgbClr val="273239"/>
                </a:solidFill>
                <a:latin typeface="Times New Roman" panose="02020603050405020304" pitchFamily="18" charset="0"/>
                <a:cs typeface="Times New Roman" panose="02020603050405020304" pitchFamily="18" charset="0"/>
              </a:rPr>
              <a:t>, Transaction 1 will be executed first. </a:t>
            </a:r>
            <a:r>
              <a:rPr lang="en-US" sz="2400" b="1" dirty="0">
                <a:solidFill>
                  <a:srgbClr val="FF0000"/>
                </a:solidFill>
                <a:latin typeface="Times New Roman" panose="02020603050405020304" pitchFamily="18" charset="0"/>
                <a:cs typeface="Times New Roman" panose="02020603050405020304" pitchFamily="18" charset="0"/>
              </a:rPr>
              <a:t>T3</a:t>
            </a:r>
            <a:r>
              <a:rPr lang="en-US" sz="2400" dirty="0">
                <a:solidFill>
                  <a:srgbClr val="273239"/>
                </a:solidFill>
                <a:latin typeface="Times New Roman" panose="02020603050405020304" pitchFamily="18" charset="0"/>
                <a:cs typeface="Times New Roman" panose="02020603050405020304" pitchFamily="18" charset="0"/>
              </a:rPr>
              <a:t> will run second because it only depends on T1. Due to its dependence on both T1 and T3, </a:t>
            </a:r>
            <a:r>
              <a:rPr lang="en-US" sz="2400" b="1" dirty="0" smtClean="0">
                <a:solidFill>
                  <a:srgbClr val="FF0000"/>
                </a:solidFill>
                <a:latin typeface="Times New Roman" panose="02020603050405020304" pitchFamily="18" charset="0"/>
                <a:cs typeface="Times New Roman" panose="02020603050405020304" pitchFamily="18" charset="0"/>
              </a:rPr>
              <a:t>T2</a:t>
            </a:r>
            <a:r>
              <a:rPr lang="en-US" sz="2400" dirty="0" smtClean="0">
                <a:solidFill>
                  <a:srgbClr val="273239"/>
                </a:solidFill>
                <a:latin typeface="Times New Roman" panose="02020603050405020304" pitchFamily="18" charset="0"/>
                <a:cs typeface="Times New Roman" panose="02020603050405020304" pitchFamily="18" charset="0"/>
              </a:rPr>
              <a:t> </a:t>
            </a:r>
            <a:r>
              <a:rPr lang="en-US" sz="2400" dirty="0">
                <a:solidFill>
                  <a:srgbClr val="273239"/>
                </a:solidFill>
                <a:latin typeface="Times New Roman" panose="02020603050405020304" pitchFamily="18" charset="0"/>
                <a:cs typeface="Times New Roman" panose="02020603050405020304" pitchFamily="18" charset="0"/>
              </a:rPr>
              <a:t>will finally be executed.</a:t>
            </a:r>
          </a:p>
          <a:p>
            <a:pPr fontAlgn="base"/>
            <a:r>
              <a:rPr lang="en-US" sz="2400" dirty="0">
                <a:solidFill>
                  <a:srgbClr val="273239"/>
                </a:solidFill>
                <a:latin typeface="Times New Roman" panose="02020603050405020304" pitchFamily="18" charset="0"/>
                <a:cs typeface="Times New Roman" panose="02020603050405020304" pitchFamily="18" charset="0"/>
              </a:rPr>
              <a:t>Therefore, the serial schedule's equivalent order is: </a:t>
            </a:r>
            <a:r>
              <a:rPr lang="en-US" sz="2400" b="1" dirty="0">
                <a:solidFill>
                  <a:srgbClr val="C00000"/>
                </a:solidFill>
                <a:latin typeface="Times New Roman" panose="02020603050405020304" pitchFamily="18" charset="0"/>
                <a:cs typeface="Times New Roman" panose="02020603050405020304" pitchFamily="18" charset="0"/>
              </a:rPr>
              <a:t>t1 --&gt; t3 --&gt; t2</a:t>
            </a:r>
            <a:endParaRPr lang="en-US" sz="2400" b="1" i="0" dirty="0">
              <a:solidFill>
                <a:srgbClr val="C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23008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609600"/>
            <a:ext cx="8534400" cy="6019800"/>
          </a:xfrm>
        </p:spPr>
        <p:txBody>
          <a:bodyPr/>
          <a:lstStyle/>
          <a:p>
            <a:r>
              <a:rPr lang="en-US" u="sng" dirty="0">
                <a:hlinkClick r:id="rId2"/>
              </a:rPr>
              <a:t>View </a:t>
            </a:r>
            <a:r>
              <a:rPr lang="en-US" u="sng" dirty="0" err="1">
                <a:hlinkClick r:id="rId2"/>
              </a:rPr>
              <a:t>serializability</a:t>
            </a:r>
            <a:r>
              <a:rPr lang="en-US" dirty="0"/>
              <a:t> is a kind of operation in a </a:t>
            </a:r>
            <a:r>
              <a:rPr lang="en-US" dirty="0" err="1"/>
              <a:t>serializable</a:t>
            </a:r>
            <a:r>
              <a:rPr lang="en-US" dirty="0"/>
              <a:t> in which each transaction should provide some results, and these outcomes are the output of properly sequentially executing the data item. </a:t>
            </a:r>
            <a:endParaRPr lang="en-US" dirty="0" smtClean="0"/>
          </a:p>
          <a:p>
            <a:r>
              <a:rPr lang="en-US" dirty="0" smtClean="0"/>
              <a:t>The </a:t>
            </a:r>
            <a:r>
              <a:rPr lang="en-US" dirty="0"/>
              <a:t>view </a:t>
            </a:r>
            <a:r>
              <a:rPr lang="en-US" dirty="0" err="1"/>
              <a:t>serializability</a:t>
            </a:r>
            <a:r>
              <a:rPr lang="en-US" dirty="0"/>
              <a:t>, in contrast to conflict serialized, is concerned with avoiding database inconsistency. The view </a:t>
            </a:r>
            <a:r>
              <a:rPr lang="en-US" dirty="0" err="1"/>
              <a:t>serializability</a:t>
            </a:r>
            <a:r>
              <a:rPr lang="en-US" dirty="0"/>
              <a:t> feature of DBMS enables users to see databases in contradictory ways.</a:t>
            </a:r>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dirty="0" smtClean="0"/>
              <a:t>View </a:t>
            </a:r>
            <a:r>
              <a:rPr lang="en-US" sz="3600" dirty="0" err="1" smtClean="0"/>
              <a:t>Serializability</a:t>
            </a:r>
            <a:endParaRPr lang="en-US" sz="3600" dirty="0"/>
          </a:p>
        </p:txBody>
      </p:sp>
    </p:spTree>
    <p:extLst>
      <p:ext uri="{BB962C8B-B14F-4D97-AF65-F5344CB8AC3E}">
        <p14:creationId xmlns:p14="http://schemas.microsoft.com/office/powerpoint/2010/main" val="812295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839200" cy="6172200"/>
          </a:xfrm>
        </p:spPr>
        <p:txBody>
          <a:bodyPr/>
          <a:lstStyle/>
          <a:p>
            <a:r>
              <a:rPr lang="en-US" dirty="0"/>
              <a:t>T</a:t>
            </a:r>
            <a:r>
              <a:rPr lang="en-US" dirty="0" smtClean="0"/>
              <a:t>he </a:t>
            </a:r>
            <a:r>
              <a:rPr lang="en-US" dirty="0"/>
              <a:t>schedules </a:t>
            </a:r>
            <a:r>
              <a:rPr lang="en-US" b="1" dirty="0">
                <a:solidFill>
                  <a:srgbClr val="FF0000"/>
                </a:solidFill>
              </a:rPr>
              <a:t>S1</a:t>
            </a:r>
            <a:r>
              <a:rPr lang="en-US" dirty="0">
                <a:solidFill>
                  <a:srgbClr val="FF0000"/>
                </a:solidFill>
              </a:rPr>
              <a:t> </a:t>
            </a:r>
            <a:r>
              <a:rPr lang="en-US" dirty="0"/>
              <a:t>and </a:t>
            </a:r>
            <a:r>
              <a:rPr lang="en-US" b="1" dirty="0">
                <a:solidFill>
                  <a:srgbClr val="FF0000"/>
                </a:solidFill>
              </a:rPr>
              <a:t>S2</a:t>
            </a:r>
            <a:r>
              <a:rPr lang="en-US" dirty="0"/>
              <a:t>. </a:t>
            </a:r>
            <a:endParaRPr lang="en-US" dirty="0" smtClean="0"/>
          </a:p>
          <a:p>
            <a:r>
              <a:rPr lang="en-US" dirty="0" smtClean="0"/>
              <a:t>The </a:t>
            </a:r>
            <a:r>
              <a:rPr lang="en-US" dirty="0"/>
              <a:t>two transactions </a:t>
            </a:r>
            <a:r>
              <a:rPr lang="en-US" b="1" dirty="0">
                <a:solidFill>
                  <a:srgbClr val="FF0000"/>
                </a:solidFill>
              </a:rPr>
              <a:t>T1</a:t>
            </a:r>
            <a:r>
              <a:rPr lang="en-US" dirty="0"/>
              <a:t> and </a:t>
            </a:r>
            <a:r>
              <a:rPr lang="en-US" b="1" dirty="0">
                <a:solidFill>
                  <a:srgbClr val="FF0000"/>
                </a:solidFill>
              </a:rPr>
              <a:t>T2</a:t>
            </a:r>
            <a:r>
              <a:rPr lang="en-US" dirty="0"/>
              <a:t> should be used to establish these two schedules. </a:t>
            </a:r>
            <a:endParaRPr lang="en-US" dirty="0" smtClean="0"/>
          </a:p>
          <a:p>
            <a:r>
              <a:rPr lang="en-US" dirty="0" smtClean="0"/>
              <a:t>Each </a:t>
            </a:r>
            <a:r>
              <a:rPr lang="en-US" dirty="0"/>
              <a:t>schedule must follow the three transactions in order to retain the equivalent of the transaction. </a:t>
            </a:r>
            <a:endParaRPr lang="en-US" dirty="0" smtClean="0"/>
          </a:p>
          <a:p>
            <a:pPr marL="0" indent="0">
              <a:buNone/>
            </a:pPr>
            <a:r>
              <a:rPr lang="en-US" dirty="0" smtClean="0"/>
              <a:t>These </a:t>
            </a:r>
            <a:r>
              <a:rPr lang="en-US" dirty="0"/>
              <a:t>three circumstances are listed below.</a:t>
            </a:r>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dirty="0" smtClean="0"/>
              <a:t>View </a:t>
            </a:r>
            <a:r>
              <a:rPr lang="en-US" sz="3600" dirty="0" err="1" smtClean="0"/>
              <a:t>Serializability</a:t>
            </a:r>
            <a:endParaRPr lang="en-US" sz="3600" dirty="0"/>
          </a:p>
        </p:txBody>
      </p:sp>
    </p:spTree>
    <p:extLst>
      <p:ext uri="{BB962C8B-B14F-4D97-AF65-F5344CB8AC3E}">
        <p14:creationId xmlns:p14="http://schemas.microsoft.com/office/powerpoint/2010/main" val="35546926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533400"/>
            <a:ext cx="8839200" cy="6172200"/>
          </a:xfrm>
        </p:spPr>
        <p:txBody>
          <a:bodyPr/>
          <a:lstStyle/>
          <a:p>
            <a:pPr marL="514350" indent="-514350">
              <a:buFont typeface="+mj-lt"/>
              <a:buAutoNum type="arabicPeriod"/>
            </a:pPr>
            <a:r>
              <a:rPr lang="en-US" dirty="0"/>
              <a:t>The first prerequisite is that the same kind of transaction appears on every schedule. This requirement means that the same kind of group of transactions cannot appear on both schedules S1 and S2. </a:t>
            </a:r>
            <a:endParaRPr lang="en-US" dirty="0" smtClean="0"/>
          </a:p>
          <a:p>
            <a:r>
              <a:rPr lang="en-US" dirty="0"/>
              <a:t>	</a:t>
            </a:r>
            <a:r>
              <a:rPr lang="en-US" dirty="0" smtClean="0"/>
              <a:t>The </a:t>
            </a:r>
            <a:r>
              <a:rPr lang="en-US" dirty="0"/>
              <a:t>schedules are not equal to one another if one schedule commits a transaction but </a:t>
            </a:r>
            <a:r>
              <a:rPr lang="en-US" dirty="0" smtClean="0"/>
              <a:t>it </a:t>
            </a:r>
            <a:r>
              <a:rPr lang="en-US" dirty="0"/>
              <a:t>does not match the transaction of the other schedule</a:t>
            </a:r>
            <a:r>
              <a:rPr lang="en-US" dirty="0" smtClean="0"/>
              <a:t>.</a:t>
            </a:r>
          </a:p>
          <a:p>
            <a:pPr marL="514350" indent="-514350">
              <a:buFont typeface="+mj-lt"/>
              <a:buAutoNum type="arabicPeriod"/>
            </a:pPr>
            <a:endParaRPr lang="en-US" dirty="0"/>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dirty="0" smtClean="0"/>
              <a:t>View </a:t>
            </a:r>
            <a:r>
              <a:rPr lang="en-US" sz="3600" dirty="0" err="1" smtClean="0"/>
              <a:t>Serializability</a:t>
            </a:r>
            <a:r>
              <a:rPr lang="en-US" sz="3600" dirty="0" smtClean="0"/>
              <a:t>-Circumstances</a:t>
            </a:r>
            <a:endParaRPr lang="en-US" sz="3600" dirty="0"/>
          </a:p>
        </p:txBody>
      </p:sp>
    </p:spTree>
    <p:extLst>
      <p:ext uri="{BB962C8B-B14F-4D97-AF65-F5344CB8AC3E}">
        <p14:creationId xmlns:p14="http://schemas.microsoft.com/office/powerpoint/2010/main" val="27753817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376" y="1143000"/>
            <a:ext cx="8236424" cy="5334000"/>
          </a:xfrm>
        </p:spPr>
        <p:txBody>
          <a:bodyPr>
            <a:normAutofit/>
          </a:bodyPr>
          <a:lstStyle/>
          <a:p>
            <a:pPr marL="0" indent="0">
              <a:buNone/>
            </a:pPr>
            <a:r>
              <a:rPr lang="en-US" b="1" dirty="0" smtClean="0">
                <a:solidFill>
                  <a:srgbClr val="FF0000"/>
                </a:solidFill>
              </a:rPr>
              <a:t>2. </a:t>
            </a:r>
            <a:r>
              <a:rPr lang="en-US" dirty="0" smtClean="0"/>
              <a:t>The </a:t>
            </a:r>
            <a:r>
              <a:rPr lang="en-US" dirty="0"/>
              <a:t>second requirement is that different read or write operations should not be used in either schedule. </a:t>
            </a:r>
            <a:endParaRPr lang="en-US" dirty="0" smtClean="0"/>
          </a:p>
          <a:p>
            <a:r>
              <a:rPr lang="en-US" dirty="0" smtClean="0"/>
              <a:t>On </a:t>
            </a:r>
            <a:r>
              <a:rPr lang="en-US" dirty="0"/>
              <a:t>the other hand, we say that two schedules are not similar if schedule </a:t>
            </a:r>
            <a:r>
              <a:rPr lang="en-US" b="1" dirty="0">
                <a:solidFill>
                  <a:srgbClr val="FF0000"/>
                </a:solidFill>
              </a:rPr>
              <a:t>S1</a:t>
            </a:r>
            <a:r>
              <a:rPr lang="en-US" dirty="0"/>
              <a:t> has two write operations whereas schedule </a:t>
            </a:r>
            <a:r>
              <a:rPr lang="en-US" b="1" dirty="0">
                <a:solidFill>
                  <a:srgbClr val="FF0000"/>
                </a:solidFill>
              </a:rPr>
              <a:t>S2</a:t>
            </a:r>
            <a:r>
              <a:rPr lang="en-US" dirty="0"/>
              <a:t> only has one. </a:t>
            </a:r>
            <a:endParaRPr lang="en-US" dirty="0" smtClean="0"/>
          </a:p>
          <a:p>
            <a:r>
              <a:rPr lang="en-US" dirty="0" smtClean="0"/>
              <a:t>The </a:t>
            </a:r>
            <a:r>
              <a:rPr lang="en-US" dirty="0"/>
              <a:t>number of the write operation must be the same in both schedules, however there is no issue if the number of the read operation is different.</a:t>
            </a:r>
          </a:p>
          <a:p>
            <a:endParaRPr lang="en-US" dirty="0"/>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dirty="0" smtClean="0"/>
              <a:t>View </a:t>
            </a:r>
            <a:r>
              <a:rPr lang="en-US" sz="3600" dirty="0" err="1" smtClean="0"/>
              <a:t>Serializability</a:t>
            </a:r>
            <a:r>
              <a:rPr lang="en-US" sz="3600" dirty="0" smtClean="0"/>
              <a:t>-Circumstances</a:t>
            </a:r>
            <a:endParaRPr lang="en-US" sz="3600" dirty="0"/>
          </a:p>
        </p:txBody>
      </p:sp>
    </p:spTree>
    <p:extLst>
      <p:ext uri="{BB962C8B-B14F-4D97-AF65-F5344CB8AC3E}">
        <p14:creationId xmlns:p14="http://schemas.microsoft.com/office/powerpoint/2010/main" val="16038643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0"/>
            <a:ext cx="8686800" cy="5943600"/>
          </a:xfrm>
        </p:spPr>
        <p:txBody>
          <a:bodyPr>
            <a:normAutofit/>
          </a:bodyPr>
          <a:lstStyle/>
          <a:p>
            <a:pPr marL="0" indent="0">
              <a:buNone/>
            </a:pPr>
            <a:r>
              <a:rPr lang="en-US" b="1" dirty="0" smtClean="0">
                <a:solidFill>
                  <a:srgbClr val="FF0000"/>
                </a:solidFill>
              </a:rPr>
              <a:t>3. </a:t>
            </a:r>
            <a:r>
              <a:rPr lang="en-US" dirty="0" smtClean="0"/>
              <a:t>The </a:t>
            </a:r>
            <a:r>
              <a:rPr lang="en-US" dirty="0"/>
              <a:t>second to last requirement is that there should not be a conflict between either timetable. execution order for a single data item. </a:t>
            </a:r>
            <a:endParaRPr lang="en-US" dirty="0" smtClean="0"/>
          </a:p>
          <a:p>
            <a:pPr algn="just"/>
            <a:r>
              <a:rPr lang="en-US" dirty="0" smtClean="0"/>
              <a:t>Assume</a:t>
            </a:r>
            <a:r>
              <a:rPr lang="en-US" dirty="0"/>
              <a:t>, for instance, that schedule </a:t>
            </a:r>
            <a:r>
              <a:rPr lang="en-US" b="1" dirty="0"/>
              <a:t>S1</a:t>
            </a:r>
            <a:r>
              <a:rPr lang="en-US" dirty="0"/>
              <a:t>'s transaction is </a:t>
            </a:r>
            <a:r>
              <a:rPr lang="en-US" b="1" dirty="0"/>
              <a:t>T1</a:t>
            </a:r>
            <a:r>
              <a:rPr lang="en-US" dirty="0"/>
              <a:t>, and schedule </a:t>
            </a:r>
            <a:r>
              <a:rPr lang="en-US" b="1" dirty="0">
                <a:solidFill>
                  <a:srgbClr val="FF0000"/>
                </a:solidFill>
              </a:rPr>
              <a:t>S2's</a:t>
            </a:r>
            <a:r>
              <a:rPr lang="en-US" dirty="0">
                <a:solidFill>
                  <a:srgbClr val="FF0000"/>
                </a:solidFill>
              </a:rPr>
              <a:t> </a:t>
            </a:r>
            <a:r>
              <a:rPr lang="en-US" dirty="0"/>
              <a:t>transaction is </a:t>
            </a:r>
            <a:r>
              <a:rPr lang="en-US" b="1" dirty="0">
                <a:solidFill>
                  <a:srgbClr val="FF0000"/>
                </a:solidFill>
              </a:rPr>
              <a:t>T2</a:t>
            </a:r>
            <a:r>
              <a:rPr lang="en-US" dirty="0"/>
              <a:t>. The data item A is written by both the transaction T1 and the transaction </a:t>
            </a:r>
            <a:r>
              <a:rPr lang="en-US" b="1" dirty="0"/>
              <a:t>T2</a:t>
            </a:r>
            <a:r>
              <a:rPr lang="en-US" dirty="0"/>
              <a:t>. </a:t>
            </a:r>
            <a:endParaRPr lang="en-US" dirty="0" smtClean="0"/>
          </a:p>
          <a:p>
            <a:pPr algn="just"/>
            <a:r>
              <a:rPr lang="en-US" dirty="0" smtClean="0"/>
              <a:t>The </a:t>
            </a:r>
            <a:r>
              <a:rPr lang="en-US" dirty="0"/>
              <a:t>schedules are not equal in this instance. </a:t>
            </a:r>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dirty="0" smtClean="0"/>
              <a:t>View </a:t>
            </a:r>
            <a:r>
              <a:rPr lang="en-US" sz="3600" dirty="0" err="1" smtClean="0"/>
              <a:t>Serializability</a:t>
            </a:r>
            <a:r>
              <a:rPr lang="en-US" sz="3600" dirty="0" smtClean="0"/>
              <a:t>-Circumstances</a:t>
            </a:r>
            <a:endParaRPr lang="en-US" sz="3600" dirty="0"/>
          </a:p>
        </p:txBody>
      </p:sp>
    </p:spTree>
    <p:extLst>
      <p:ext uri="{BB962C8B-B14F-4D97-AF65-F5344CB8AC3E}">
        <p14:creationId xmlns:p14="http://schemas.microsoft.com/office/powerpoint/2010/main" val="29490502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09600"/>
            <a:ext cx="8686800" cy="6019800"/>
          </a:xfrm>
        </p:spPr>
        <p:txBody>
          <a:bodyPr>
            <a:normAutofit fontScale="92500" lnSpcReduction="10000"/>
          </a:bodyPr>
          <a:lstStyle/>
          <a:p>
            <a:pPr fontAlgn="base"/>
            <a:r>
              <a:rPr lang="en-US" b="1" dirty="0" smtClean="0">
                <a:solidFill>
                  <a:srgbClr val="FF0000"/>
                </a:solidFill>
              </a:rPr>
              <a:t>Schedules </a:t>
            </a:r>
            <a:r>
              <a:rPr lang="en-US" b="1" dirty="0">
                <a:solidFill>
                  <a:srgbClr val="FF0000"/>
                </a:solidFill>
              </a:rPr>
              <a:t>(S1 and S2) </a:t>
            </a:r>
            <a:r>
              <a:rPr lang="en-US" dirty="0"/>
              <a:t>must satisfy these two requirements in order to be viewed as equivalent:</a:t>
            </a:r>
          </a:p>
          <a:p>
            <a:pPr marL="514350" indent="-514350" fontAlgn="base">
              <a:buFont typeface="+mj-lt"/>
              <a:buAutoNum type="arabicPeriod"/>
            </a:pPr>
            <a:r>
              <a:rPr lang="en-US" dirty="0"/>
              <a:t>The same piece of data must be read for the first time.</a:t>
            </a:r>
            <a:r>
              <a:rPr lang="en-US" b="1" dirty="0"/>
              <a:t> </a:t>
            </a:r>
            <a:r>
              <a:rPr lang="en-US" dirty="0"/>
              <a:t>For instance, if transaction t1 is reading "A" from the database in schedule S1, then t1 must also read A in schedule S2.</a:t>
            </a:r>
          </a:p>
          <a:p>
            <a:pPr marL="514350" indent="-514350" fontAlgn="base">
              <a:buFont typeface="+mj-lt"/>
              <a:buAutoNum type="arabicPeriod"/>
            </a:pPr>
            <a:r>
              <a:rPr lang="en-US" dirty="0"/>
              <a:t>The same piece of data must be used for the final write. As an illustration, if transaction t1 updated A last in S1, it should also conduct final write in S2.</a:t>
            </a:r>
          </a:p>
          <a:p>
            <a:pPr marL="514350" indent="-514350" fontAlgn="base">
              <a:buFont typeface="+mj-lt"/>
              <a:buAutoNum type="arabicPeriod"/>
            </a:pPr>
            <a:r>
              <a:rPr lang="en-US" dirty="0"/>
              <a:t>The middle sequence need to follow suit. As an illustration, if in S1 t1 is reading A, and t2 updates A, then in S2 t1 should read A, and t2 should update A.</a:t>
            </a:r>
          </a:p>
          <a:p>
            <a:endParaRPr lang="en-US" dirty="0"/>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View Equivalency</a:t>
            </a:r>
            <a:endParaRPr lang="en-US" sz="3600" dirty="0"/>
          </a:p>
        </p:txBody>
      </p:sp>
    </p:spTree>
    <p:extLst>
      <p:ext uri="{BB962C8B-B14F-4D97-AF65-F5344CB8AC3E}">
        <p14:creationId xmlns:p14="http://schemas.microsoft.com/office/powerpoint/2010/main" val="1076498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382000" cy="5562600"/>
          </a:xfrm>
        </p:spPr>
        <p:txBody>
          <a:bodyPr/>
          <a:lstStyle/>
          <a:p>
            <a:r>
              <a:rPr lang="en-US" b="1" dirty="0"/>
              <a:t>View </a:t>
            </a:r>
            <a:r>
              <a:rPr lang="en-US" b="1" dirty="0" err="1"/>
              <a:t>Serializability</a:t>
            </a:r>
            <a:r>
              <a:rPr lang="en-US" b="1" dirty="0"/>
              <a:t> </a:t>
            </a:r>
            <a:r>
              <a:rPr lang="en-US" dirty="0"/>
              <a:t>refers to the process of determining whether a schedule's views are equivalent.</a:t>
            </a:r>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View Equivalency</a:t>
            </a:r>
            <a:endParaRPr lang="en-US" sz="3600" dirty="0"/>
          </a:p>
        </p:txBody>
      </p:sp>
    </p:spTree>
    <p:extLst>
      <p:ext uri="{BB962C8B-B14F-4D97-AF65-F5344CB8AC3E}">
        <p14:creationId xmlns:p14="http://schemas.microsoft.com/office/powerpoint/2010/main" val="22242762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dirty="0"/>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Advantages of </a:t>
            </a:r>
            <a:r>
              <a:rPr lang="en-US" sz="3600" b="1" dirty="0" err="1" smtClean="0"/>
              <a:t>Serializability</a:t>
            </a:r>
            <a:endParaRPr lang="en-US" sz="3600" dirty="0"/>
          </a:p>
        </p:txBody>
      </p:sp>
      <p:pic>
        <p:nvPicPr>
          <p:cNvPr id="5" name="Picture 4"/>
          <p:cNvPicPr>
            <a:picLocks noChangeAspect="1"/>
          </p:cNvPicPr>
          <p:nvPr/>
        </p:nvPicPr>
        <p:blipFill>
          <a:blip r:embed="rId2"/>
          <a:stretch>
            <a:fillRect/>
          </a:stretch>
        </p:blipFill>
        <p:spPr>
          <a:xfrm>
            <a:off x="228600" y="762000"/>
            <a:ext cx="8771251" cy="5867400"/>
          </a:xfrm>
          <a:prstGeom prst="rect">
            <a:avLst/>
          </a:prstGeom>
        </p:spPr>
      </p:pic>
    </p:spTree>
    <p:extLst>
      <p:ext uri="{BB962C8B-B14F-4D97-AF65-F5344CB8AC3E}">
        <p14:creationId xmlns:p14="http://schemas.microsoft.com/office/powerpoint/2010/main" val="40488346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533400"/>
            <a:ext cx="8686800" cy="6096000"/>
          </a:xfrm>
        </p:spPr>
        <p:txBody>
          <a:bodyPr>
            <a:normAutofit/>
          </a:bodyPr>
          <a:lstStyle/>
          <a:p>
            <a:r>
              <a:rPr lang="en-US" dirty="0"/>
              <a:t>A </a:t>
            </a:r>
            <a:r>
              <a:rPr lang="en-US" b="1" dirty="0">
                <a:solidFill>
                  <a:srgbClr val="FF0000"/>
                </a:solidFill>
              </a:rPr>
              <a:t>Precedence Graph </a:t>
            </a:r>
            <a:r>
              <a:rPr lang="en-US" dirty="0"/>
              <a:t>or </a:t>
            </a:r>
            <a:r>
              <a:rPr lang="en-US" b="1" dirty="0">
                <a:solidFill>
                  <a:srgbClr val="FF0000"/>
                </a:solidFill>
              </a:rPr>
              <a:t>Serialization</a:t>
            </a:r>
            <a:r>
              <a:rPr lang="en-US" dirty="0"/>
              <a:t> </a:t>
            </a:r>
            <a:r>
              <a:rPr lang="en-US" b="1" dirty="0">
                <a:solidFill>
                  <a:srgbClr val="FF0000"/>
                </a:solidFill>
              </a:rPr>
              <a:t>Graph</a:t>
            </a:r>
            <a:r>
              <a:rPr lang="en-US" dirty="0"/>
              <a:t> is used commonly to test the Conflict </a:t>
            </a:r>
            <a:r>
              <a:rPr lang="en-US" dirty="0" err="1"/>
              <a:t>Serializability</a:t>
            </a:r>
            <a:r>
              <a:rPr lang="en-US" dirty="0"/>
              <a:t> of a schedule. </a:t>
            </a:r>
            <a:endParaRPr lang="en-US" dirty="0" smtClean="0"/>
          </a:p>
          <a:p>
            <a:r>
              <a:rPr lang="en-US" dirty="0"/>
              <a:t>It is a directed </a:t>
            </a:r>
            <a:r>
              <a:rPr lang="en-US" b="1" dirty="0">
                <a:solidFill>
                  <a:srgbClr val="C00000"/>
                </a:solidFill>
              </a:rPr>
              <a:t>Graph (V, E) </a:t>
            </a:r>
            <a:r>
              <a:rPr lang="en-US" dirty="0"/>
              <a:t>consisting of a set of nodes </a:t>
            </a:r>
            <a:r>
              <a:rPr lang="en-US" b="1" dirty="0">
                <a:solidFill>
                  <a:srgbClr val="C00000"/>
                </a:solidFill>
              </a:rPr>
              <a:t>V = {T</a:t>
            </a:r>
            <a:r>
              <a:rPr lang="en-US" b="1" baseline="-25000" dirty="0">
                <a:solidFill>
                  <a:srgbClr val="C00000"/>
                </a:solidFill>
              </a:rPr>
              <a:t>1</a:t>
            </a:r>
            <a:r>
              <a:rPr lang="en-US" b="1" dirty="0">
                <a:solidFill>
                  <a:srgbClr val="C00000"/>
                </a:solidFill>
              </a:rPr>
              <a:t>, T</a:t>
            </a:r>
            <a:r>
              <a:rPr lang="en-US" b="1" baseline="-25000" dirty="0">
                <a:solidFill>
                  <a:srgbClr val="C00000"/>
                </a:solidFill>
              </a:rPr>
              <a:t>2</a:t>
            </a:r>
            <a:r>
              <a:rPr lang="en-US" b="1" dirty="0">
                <a:solidFill>
                  <a:srgbClr val="C00000"/>
                </a:solidFill>
              </a:rPr>
              <a:t>, T</a:t>
            </a:r>
            <a:r>
              <a:rPr lang="en-US" b="1" baseline="-25000" dirty="0">
                <a:solidFill>
                  <a:srgbClr val="C00000"/>
                </a:solidFill>
              </a:rPr>
              <a:t>3</a:t>
            </a:r>
            <a:r>
              <a:rPr lang="en-US" b="1" dirty="0">
                <a:solidFill>
                  <a:srgbClr val="C00000"/>
                </a:solidFill>
              </a:rPr>
              <a:t>……….</a:t>
            </a:r>
            <a:r>
              <a:rPr lang="en-US" b="1" dirty="0" err="1">
                <a:solidFill>
                  <a:srgbClr val="C00000"/>
                </a:solidFill>
              </a:rPr>
              <a:t>T</a:t>
            </a:r>
            <a:r>
              <a:rPr lang="en-US" b="1" baseline="-25000" dirty="0" err="1">
                <a:solidFill>
                  <a:srgbClr val="C00000"/>
                </a:solidFill>
              </a:rPr>
              <a:t>n</a:t>
            </a:r>
            <a:r>
              <a:rPr lang="en-US" b="1" dirty="0">
                <a:solidFill>
                  <a:srgbClr val="C00000"/>
                </a:solidFill>
              </a:rPr>
              <a:t>} </a:t>
            </a:r>
            <a:r>
              <a:rPr lang="en-US" dirty="0"/>
              <a:t>and a set of directed edges </a:t>
            </a:r>
            <a:r>
              <a:rPr lang="en-US" b="1" dirty="0">
                <a:solidFill>
                  <a:srgbClr val="C00000"/>
                </a:solidFill>
              </a:rPr>
              <a:t>E = {e</a:t>
            </a:r>
            <a:r>
              <a:rPr lang="en-US" b="1" baseline="-25000" dirty="0">
                <a:solidFill>
                  <a:srgbClr val="C00000"/>
                </a:solidFill>
              </a:rPr>
              <a:t>1</a:t>
            </a:r>
            <a:r>
              <a:rPr lang="en-US" b="1" dirty="0">
                <a:solidFill>
                  <a:srgbClr val="C00000"/>
                </a:solidFill>
              </a:rPr>
              <a:t>, e</a:t>
            </a:r>
            <a:r>
              <a:rPr lang="en-US" b="1" baseline="-25000" dirty="0">
                <a:solidFill>
                  <a:srgbClr val="C00000"/>
                </a:solidFill>
              </a:rPr>
              <a:t>2</a:t>
            </a:r>
            <a:r>
              <a:rPr lang="en-US" b="1" dirty="0">
                <a:solidFill>
                  <a:srgbClr val="C00000"/>
                </a:solidFill>
              </a:rPr>
              <a:t>, e</a:t>
            </a:r>
            <a:r>
              <a:rPr lang="en-US" b="1" baseline="-25000" dirty="0">
                <a:solidFill>
                  <a:srgbClr val="C00000"/>
                </a:solidFill>
              </a:rPr>
              <a:t>3</a:t>
            </a:r>
            <a:r>
              <a:rPr lang="en-US" b="1" dirty="0">
                <a:solidFill>
                  <a:srgbClr val="C00000"/>
                </a:solidFill>
              </a:rPr>
              <a:t>………………</a:t>
            </a:r>
            <a:r>
              <a:rPr lang="en-US" b="1" dirty="0" err="1">
                <a:solidFill>
                  <a:srgbClr val="C00000"/>
                </a:solidFill>
              </a:rPr>
              <a:t>e</a:t>
            </a:r>
            <a:r>
              <a:rPr lang="en-US" b="1" baseline="-25000" dirty="0" err="1">
                <a:solidFill>
                  <a:srgbClr val="C00000"/>
                </a:solidFill>
              </a:rPr>
              <a:t>m</a:t>
            </a:r>
            <a:r>
              <a:rPr lang="en-US" b="1" dirty="0">
                <a:solidFill>
                  <a:srgbClr val="C00000"/>
                </a:solidFill>
              </a:rPr>
              <a:t>}. </a:t>
            </a:r>
            <a:endParaRPr lang="en-US" b="1" dirty="0" smtClean="0">
              <a:solidFill>
                <a:srgbClr val="C00000"/>
              </a:solidFill>
            </a:endParaRPr>
          </a:p>
          <a:p>
            <a:endParaRPr lang="en-US" dirty="0" smtClean="0"/>
          </a:p>
          <a:p>
            <a:endParaRPr lang="en-US" dirty="0"/>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Testing the Conflict </a:t>
            </a:r>
            <a:r>
              <a:rPr lang="en-US" sz="3600" b="1" dirty="0" err="1" smtClean="0"/>
              <a:t>serializability</a:t>
            </a:r>
            <a:endParaRPr lang="en-US" sz="3600" dirty="0"/>
          </a:p>
        </p:txBody>
      </p:sp>
    </p:spTree>
    <p:extLst>
      <p:ext uri="{BB962C8B-B14F-4D97-AF65-F5344CB8AC3E}">
        <p14:creationId xmlns:p14="http://schemas.microsoft.com/office/powerpoint/2010/main" val="41411032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en-US" dirty="0"/>
              <a:t>The graph contains one node for each Transaction </a:t>
            </a:r>
            <a:r>
              <a:rPr lang="en-US" b="1" dirty="0">
                <a:solidFill>
                  <a:srgbClr val="C00000"/>
                </a:solidFill>
              </a:rPr>
              <a:t>Ti</a:t>
            </a:r>
            <a:r>
              <a:rPr lang="en-US" dirty="0" smtClean="0"/>
              <a:t>.</a:t>
            </a:r>
          </a:p>
          <a:p>
            <a:r>
              <a:rPr lang="en-US" dirty="0" smtClean="0"/>
              <a:t>An </a:t>
            </a:r>
            <a:r>
              <a:rPr lang="en-US" dirty="0"/>
              <a:t>edge </a:t>
            </a:r>
            <a:r>
              <a:rPr lang="en-US" b="1" dirty="0" err="1">
                <a:solidFill>
                  <a:srgbClr val="C00000"/>
                </a:solidFill>
              </a:rPr>
              <a:t>ei</a:t>
            </a:r>
            <a:r>
              <a:rPr lang="en-US" dirty="0"/>
              <a:t> is of the form </a:t>
            </a:r>
            <a:r>
              <a:rPr lang="en-US" b="1" dirty="0" err="1">
                <a:solidFill>
                  <a:srgbClr val="C00000"/>
                </a:solidFill>
              </a:rPr>
              <a:t>Tj</a:t>
            </a:r>
            <a:r>
              <a:rPr lang="en-US" b="1" dirty="0">
                <a:solidFill>
                  <a:srgbClr val="C00000"/>
                </a:solidFill>
              </a:rPr>
              <a:t> –&gt; </a:t>
            </a:r>
            <a:r>
              <a:rPr lang="en-US" b="1" dirty="0" err="1">
                <a:solidFill>
                  <a:srgbClr val="C00000"/>
                </a:solidFill>
              </a:rPr>
              <a:t>Tk</a:t>
            </a:r>
            <a:r>
              <a:rPr lang="en-US" dirty="0"/>
              <a:t> where </a:t>
            </a:r>
            <a:r>
              <a:rPr lang="en-US" b="1" dirty="0" err="1">
                <a:solidFill>
                  <a:srgbClr val="C00000"/>
                </a:solidFill>
              </a:rPr>
              <a:t>Tj</a:t>
            </a:r>
            <a:r>
              <a:rPr lang="en-US" dirty="0"/>
              <a:t> is the starting node of </a:t>
            </a:r>
            <a:r>
              <a:rPr lang="en-US" b="1" dirty="0" err="1"/>
              <a:t>ei</a:t>
            </a:r>
            <a:r>
              <a:rPr lang="en-US" dirty="0"/>
              <a:t> and </a:t>
            </a:r>
            <a:r>
              <a:rPr lang="en-US" b="1" dirty="0" err="1"/>
              <a:t>Tk</a:t>
            </a:r>
            <a:r>
              <a:rPr lang="en-US" dirty="0"/>
              <a:t> is the ending node of </a:t>
            </a:r>
            <a:r>
              <a:rPr lang="en-US" b="1" dirty="0" err="1">
                <a:solidFill>
                  <a:srgbClr val="C00000"/>
                </a:solidFill>
              </a:rPr>
              <a:t>ei</a:t>
            </a:r>
            <a:r>
              <a:rPr lang="en-US" dirty="0" smtClean="0"/>
              <a:t>.</a:t>
            </a:r>
          </a:p>
          <a:p>
            <a:r>
              <a:rPr lang="en-US" dirty="0" smtClean="0"/>
              <a:t> </a:t>
            </a:r>
            <a:r>
              <a:rPr lang="en-US" dirty="0"/>
              <a:t>An edge </a:t>
            </a:r>
            <a:r>
              <a:rPr lang="en-US" b="1" dirty="0" err="1">
                <a:solidFill>
                  <a:srgbClr val="C00000"/>
                </a:solidFill>
              </a:rPr>
              <a:t>ei</a:t>
            </a:r>
            <a:r>
              <a:rPr lang="en-US" dirty="0"/>
              <a:t>​ is drawn from node </a:t>
            </a:r>
            <a:r>
              <a:rPr lang="en-US" b="1" dirty="0" err="1">
                <a:solidFill>
                  <a:srgbClr val="C00000"/>
                </a:solidFill>
              </a:rPr>
              <a:t>Tj</a:t>
            </a:r>
            <a:r>
              <a:rPr lang="en-US" dirty="0"/>
              <a:t> to node </a:t>
            </a:r>
            <a:r>
              <a:rPr lang="en-US" b="1" dirty="0" err="1">
                <a:solidFill>
                  <a:srgbClr val="C00000"/>
                </a:solidFill>
              </a:rPr>
              <a:t>Tk</a:t>
            </a:r>
            <a:r>
              <a:rPr lang="en-US" dirty="0"/>
              <a:t> if a conflicting operation in </a:t>
            </a:r>
            <a:r>
              <a:rPr lang="en-US" b="1" dirty="0" err="1">
                <a:solidFill>
                  <a:srgbClr val="C00000"/>
                </a:solidFill>
              </a:rPr>
              <a:t>Tj</a:t>
            </a:r>
            <a:r>
              <a:rPr lang="en-US" dirty="0"/>
              <a:t> occurs before the corresponding conflicting operation in </a:t>
            </a:r>
            <a:r>
              <a:rPr lang="en-US" b="1" dirty="0" err="1">
                <a:solidFill>
                  <a:srgbClr val="C00000"/>
                </a:solidFill>
              </a:rPr>
              <a:t>Tk</a:t>
            </a:r>
            <a:r>
              <a:rPr lang="en-US" dirty="0"/>
              <a:t>​ in the schedule.</a:t>
            </a:r>
          </a:p>
          <a:p>
            <a:endParaRPr lang="en-US" dirty="0"/>
          </a:p>
        </p:txBody>
      </p:sp>
      <p:sp>
        <p:nvSpPr>
          <p:cNvPr id="4" name="Title 1"/>
          <p:cNvSpPr txBox="1">
            <a:spLocks/>
          </p:cNvSpPr>
          <p:nvPr/>
        </p:nvSpPr>
        <p:spPr>
          <a:xfrm>
            <a:off x="457200" y="76200"/>
            <a:ext cx="8229600" cy="457200"/>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Testing the Conflict </a:t>
            </a:r>
            <a:r>
              <a:rPr lang="en-US" sz="3600" b="1" dirty="0" err="1" smtClean="0"/>
              <a:t>serializability</a:t>
            </a:r>
            <a:endParaRPr lang="en-US" sz="3600" dirty="0"/>
          </a:p>
        </p:txBody>
      </p:sp>
    </p:spTree>
    <p:extLst>
      <p:ext uri="{BB962C8B-B14F-4D97-AF65-F5344CB8AC3E}">
        <p14:creationId xmlns:p14="http://schemas.microsoft.com/office/powerpoint/2010/main" val="12873137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5922" y="838199"/>
            <a:ext cx="8840871" cy="5287963"/>
          </a:xfrm>
          <a:prstGeom prst="rect">
            <a:avLst/>
          </a:prstGeom>
        </p:spPr>
      </p:pic>
    </p:spTree>
    <p:extLst>
      <p:ext uri="{BB962C8B-B14F-4D97-AF65-F5344CB8AC3E}">
        <p14:creationId xmlns:p14="http://schemas.microsoft.com/office/powerpoint/2010/main" val="12574401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3562"/>
          </a:xfr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p>
            <a:r>
              <a:rPr lang="en-US" sz="3600" b="1" dirty="0">
                <a:solidFill>
                  <a:schemeClr val="lt1"/>
                </a:solidFill>
                <a:latin typeface="+mn-lt"/>
                <a:ea typeface="+mn-ea"/>
                <a:cs typeface="+mn-cs"/>
              </a:rPr>
              <a:t>Creating Precedence graph</a:t>
            </a:r>
          </a:p>
        </p:txBody>
      </p:sp>
      <p:pic>
        <p:nvPicPr>
          <p:cNvPr id="4" name="Content Placeholder 3"/>
          <p:cNvPicPr>
            <a:picLocks noGrp="1" noChangeAspect="1"/>
          </p:cNvPicPr>
          <p:nvPr>
            <p:ph idx="1"/>
          </p:nvPr>
        </p:nvPicPr>
        <p:blipFill>
          <a:blip r:embed="rId2"/>
          <a:stretch>
            <a:fillRect/>
          </a:stretch>
        </p:blipFill>
        <p:spPr>
          <a:xfrm>
            <a:off x="685800" y="914400"/>
            <a:ext cx="7467600" cy="1155975"/>
          </a:xfrm>
          <a:prstGeom prst="rect">
            <a:avLst/>
          </a:prstGeom>
        </p:spPr>
      </p:pic>
      <p:pic>
        <p:nvPicPr>
          <p:cNvPr id="5" name="Picture 4"/>
          <p:cNvPicPr>
            <a:picLocks noChangeAspect="1"/>
          </p:cNvPicPr>
          <p:nvPr/>
        </p:nvPicPr>
        <p:blipFill>
          <a:blip r:embed="rId3"/>
          <a:stretch>
            <a:fillRect/>
          </a:stretch>
        </p:blipFill>
        <p:spPr>
          <a:xfrm>
            <a:off x="50512" y="2062414"/>
            <a:ext cx="9068467" cy="4795586"/>
          </a:xfrm>
          <a:prstGeom prst="rect">
            <a:avLst/>
          </a:prstGeom>
        </p:spPr>
      </p:pic>
    </p:spTree>
    <p:extLst>
      <p:ext uri="{BB962C8B-B14F-4D97-AF65-F5344CB8AC3E}">
        <p14:creationId xmlns:p14="http://schemas.microsoft.com/office/powerpoint/2010/main" val="39079615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32982" y="3886200"/>
            <a:ext cx="8778766" cy="2590800"/>
          </a:xfrm>
          <a:prstGeom prst="rect">
            <a:avLst/>
          </a:prstGeom>
        </p:spPr>
      </p:pic>
      <p:pic>
        <p:nvPicPr>
          <p:cNvPr id="4" name="Picture 3"/>
          <p:cNvPicPr>
            <a:picLocks noChangeAspect="1"/>
          </p:cNvPicPr>
          <p:nvPr/>
        </p:nvPicPr>
        <p:blipFill>
          <a:blip r:embed="rId3"/>
          <a:stretch>
            <a:fillRect/>
          </a:stretch>
        </p:blipFill>
        <p:spPr>
          <a:xfrm>
            <a:off x="0" y="274638"/>
            <a:ext cx="8709784" cy="3276600"/>
          </a:xfrm>
          <a:prstGeom prst="rect">
            <a:avLst/>
          </a:prstGeom>
        </p:spPr>
      </p:pic>
    </p:spTree>
    <p:extLst>
      <p:ext uri="{BB962C8B-B14F-4D97-AF65-F5344CB8AC3E}">
        <p14:creationId xmlns:p14="http://schemas.microsoft.com/office/powerpoint/2010/main" val="38569500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304799" y="669925"/>
            <a:ext cx="7669951" cy="3521075"/>
          </a:xfrm>
          <a:prstGeom prst="rect">
            <a:avLst/>
          </a:prstGeom>
        </p:spPr>
      </p:pic>
    </p:spTree>
    <p:extLst>
      <p:ext uri="{BB962C8B-B14F-4D97-AF65-F5344CB8AC3E}">
        <p14:creationId xmlns:p14="http://schemas.microsoft.com/office/powerpoint/2010/main" val="2407300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228600" y="152400"/>
            <a:ext cx="8887234" cy="6705600"/>
          </a:xfrm>
          <a:prstGeom prst="rect">
            <a:avLst/>
          </a:prstGeom>
        </p:spPr>
      </p:pic>
    </p:spTree>
    <p:extLst>
      <p:ext uri="{BB962C8B-B14F-4D97-AF65-F5344CB8AC3E}">
        <p14:creationId xmlns:p14="http://schemas.microsoft.com/office/powerpoint/2010/main" val="1651553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39762"/>
            <a:ext cx="8763000" cy="6218238"/>
          </a:xfrm>
        </p:spPr>
        <p:txBody>
          <a:bodyPr>
            <a:normAutofit fontScale="92500" lnSpcReduction="20000"/>
          </a:bodyPr>
          <a:lstStyle/>
          <a:p>
            <a:pPr algn="just"/>
            <a:r>
              <a:rPr lang="en-US" dirty="0"/>
              <a:t>In a database management system (DBMS), allowing transactions to run concurrently has significant advantages, such as better system resource utilization and higher throughput. However, it is crucial that these transactions do not </a:t>
            </a:r>
            <a:r>
              <a:rPr lang="en-US" b="1" dirty="0">
                <a:solidFill>
                  <a:srgbClr val="FF0000"/>
                </a:solidFill>
              </a:rPr>
              <a:t>conflict</a:t>
            </a:r>
            <a:r>
              <a:rPr lang="en-US" dirty="0">
                <a:solidFill>
                  <a:srgbClr val="FF0000"/>
                </a:solidFill>
              </a:rPr>
              <a:t> </a:t>
            </a:r>
            <a:r>
              <a:rPr lang="en-US" dirty="0"/>
              <a:t>with each other. </a:t>
            </a:r>
            <a:endParaRPr lang="en-US" dirty="0" smtClean="0"/>
          </a:p>
          <a:p>
            <a:pPr algn="just"/>
            <a:r>
              <a:rPr lang="en-US" dirty="0" smtClean="0"/>
              <a:t>The </a:t>
            </a:r>
            <a:r>
              <a:rPr lang="en-US" dirty="0"/>
              <a:t>ultimate goal is to ensure that the database remains </a:t>
            </a:r>
            <a:r>
              <a:rPr lang="en-US" b="1" dirty="0">
                <a:solidFill>
                  <a:srgbClr val="FF0000"/>
                </a:solidFill>
              </a:rPr>
              <a:t>consistent</a:t>
            </a:r>
            <a:r>
              <a:rPr lang="en-US" dirty="0"/>
              <a:t> and </a:t>
            </a:r>
            <a:r>
              <a:rPr lang="en-US" b="1" dirty="0">
                <a:solidFill>
                  <a:srgbClr val="FF0000"/>
                </a:solidFill>
              </a:rPr>
              <a:t>accurate</a:t>
            </a:r>
            <a:r>
              <a:rPr lang="en-US" dirty="0"/>
              <a:t>. </a:t>
            </a:r>
            <a:endParaRPr lang="en-US" dirty="0" smtClean="0"/>
          </a:p>
          <a:p>
            <a:pPr lvl="1" algn="just"/>
            <a:r>
              <a:rPr lang="en-US" dirty="0" smtClean="0"/>
              <a:t>For instance, if two users try to book the last available seat on a flight at the same time, the system must ensure that only one booking succeeds. </a:t>
            </a:r>
          </a:p>
          <a:p>
            <a:pPr algn="just"/>
            <a:r>
              <a:rPr lang="en-US" dirty="0" smtClean="0"/>
              <a:t>Concurrency </a:t>
            </a:r>
            <a:r>
              <a:rPr lang="en-US" dirty="0"/>
              <a:t>control is a critical mechanism in DBMS that ensures the </a:t>
            </a:r>
            <a:r>
              <a:rPr lang="en-US" b="1" dirty="0">
                <a:solidFill>
                  <a:srgbClr val="FF0000"/>
                </a:solidFill>
              </a:rPr>
              <a:t>consistency</a:t>
            </a:r>
            <a:r>
              <a:rPr lang="en-US" dirty="0">
                <a:solidFill>
                  <a:srgbClr val="FF0000"/>
                </a:solidFill>
              </a:rPr>
              <a:t> </a:t>
            </a:r>
            <a:r>
              <a:rPr lang="en-US" dirty="0"/>
              <a:t>and </a:t>
            </a:r>
            <a:r>
              <a:rPr lang="en-US" b="1" dirty="0">
                <a:solidFill>
                  <a:srgbClr val="FF0000"/>
                </a:solidFill>
              </a:rPr>
              <a:t>integrity</a:t>
            </a:r>
            <a:r>
              <a:rPr lang="en-US" dirty="0">
                <a:solidFill>
                  <a:srgbClr val="FF0000"/>
                </a:solidFill>
              </a:rPr>
              <a:t> </a:t>
            </a:r>
            <a:r>
              <a:rPr lang="en-US" dirty="0"/>
              <a:t>of data when multiple operations are performed at the same time.</a:t>
            </a:r>
          </a:p>
        </p:txBody>
      </p:sp>
      <p:sp>
        <p:nvSpPr>
          <p:cNvPr id="4" name="Title 1"/>
          <p:cNvSpPr txBox="1">
            <a:spLocks/>
          </p:cNvSpPr>
          <p:nvPr/>
        </p:nvSpPr>
        <p:spPr>
          <a:xfrm>
            <a:off x="457200" y="76200"/>
            <a:ext cx="82296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Concurrency control</a:t>
            </a:r>
            <a:endParaRPr lang="en-US" sz="3600" b="1" dirty="0"/>
          </a:p>
        </p:txBody>
      </p:sp>
    </p:spTree>
    <p:extLst>
      <p:ext uri="{BB962C8B-B14F-4D97-AF65-F5344CB8AC3E}">
        <p14:creationId xmlns:p14="http://schemas.microsoft.com/office/powerpoint/2010/main" val="10579156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39762"/>
            <a:ext cx="8839200" cy="6065838"/>
          </a:xfrm>
        </p:spPr>
        <p:txBody>
          <a:bodyPr>
            <a:normAutofit fontScale="92500" lnSpcReduction="20000"/>
          </a:bodyPr>
          <a:lstStyle/>
          <a:p>
            <a:pPr fontAlgn="base"/>
            <a:r>
              <a:rPr lang="en-US" dirty="0"/>
              <a:t>Concurrency control is a concept in Database Management Systems (DBMS) that ensures multiple transactions can simultaneously access or modify data without causing errors or inconsistencies. It provides mechanisms to handle the concurrent execution in a way that maintains </a:t>
            </a:r>
            <a:r>
              <a:rPr lang="en-US" b="1" u="sng" dirty="0">
                <a:solidFill>
                  <a:srgbClr val="FF0000"/>
                </a:solidFill>
              </a:rPr>
              <a:t>ACID properties</a:t>
            </a:r>
            <a:r>
              <a:rPr lang="en-US" dirty="0"/>
              <a:t>.</a:t>
            </a:r>
          </a:p>
          <a:p>
            <a:pPr fontAlgn="base"/>
            <a:r>
              <a:rPr lang="en-US" dirty="0"/>
              <a:t>By implementing</a:t>
            </a:r>
            <a:r>
              <a:rPr lang="en-US" u="sng" dirty="0">
                <a:hlinkClick r:id="rId2"/>
              </a:rPr>
              <a:t> </a:t>
            </a:r>
            <a:r>
              <a:rPr lang="en-US" b="1" u="sng" dirty="0">
                <a:solidFill>
                  <a:srgbClr val="FF0000"/>
                </a:solidFill>
              </a:rPr>
              <a:t>concurrency control</a:t>
            </a:r>
            <a:r>
              <a:rPr lang="en-US" u="sng" dirty="0">
                <a:hlinkClick r:id="rId2"/>
              </a:rPr>
              <a:t>,</a:t>
            </a:r>
            <a:r>
              <a:rPr lang="en-US" dirty="0"/>
              <a:t> a DBMS allows transactions to execute concurrently while avoiding issues such as deadlocks, race conditions, and conflicts between operations.</a:t>
            </a:r>
          </a:p>
          <a:p>
            <a:pPr fontAlgn="base"/>
            <a:r>
              <a:rPr lang="en-US" dirty="0"/>
              <a:t>The main goal of concurrency control is to ensure that simultaneous transactions do not lead to data conflicts or violate the consistency of the database. The concept of </a:t>
            </a:r>
            <a:r>
              <a:rPr lang="en-US" b="1" u="sng" dirty="0" err="1">
                <a:solidFill>
                  <a:srgbClr val="FF0000"/>
                </a:solidFill>
                <a:hlinkClick r:id="rId3"/>
              </a:rPr>
              <a:t>serializability</a:t>
            </a:r>
            <a:r>
              <a:rPr lang="en-US" dirty="0"/>
              <a:t> is often used to achieve this goal</a:t>
            </a:r>
            <a:r>
              <a:rPr lang="en-US" dirty="0" smtClean="0"/>
              <a:t>.</a:t>
            </a:r>
            <a:endParaRPr lang="en-US" dirty="0"/>
          </a:p>
        </p:txBody>
      </p:sp>
      <p:sp>
        <p:nvSpPr>
          <p:cNvPr id="4" name="Title 1"/>
          <p:cNvSpPr txBox="1">
            <a:spLocks/>
          </p:cNvSpPr>
          <p:nvPr/>
        </p:nvSpPr>
        <p:spPr>
          <a:xfrm>
            <a:off x="457200" y="76200"/>
            <a:ext cx="82296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Concurrency control</a:t>
            </a:r>
            <a:endParaRPr lang="en-US" sz="3600" b="1" dirty="0"/>
          </a:p>
        </p:txBody>
      </p:sp>
    </p:spTree>
    <p:extLst>
      <p:ext uri="{BB962C8B-B14F-4D97-AF65-F5344CB8AC3E}">
        <p14:creationId xmlns:p14="http://schemas.microsoft.com/office/powerpoint/2010/main" val="15508351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838200"/>
            <a:ext cx="8915400" cy="5867400"/>
          </a:xfrm>
        </p:spPr>
        <p:txBody>
          <a:bodyPr>
            <a:normAutofit fontScale="92500"/>
          </a:bodyPr>
          <a:lstStyle/>
          <a:p>
            <a:pPr algn="just"/>
            <a:r>
              <a:rPr lang="en-US" dirty="0"/>
              <a:t>In a multi-user system, several users can access and work on the same database at the same time. This is known as concurrent execution, where the database is used simultaneously by different users for various operations. For instance, one user might be updating data while another is retrieving it</a:t>
            </a:r>
            <a:r>
              <a:rPr lang="en-US" dirty="0" smtClean="0"/>
              <a:t>.</a:t>
            </a:r>
          </a:p>
          <a:p>
            <a:pPr algn="just"/>
            <a:r>
              <a:rPr lang="en-US" dirty="0"/>
              <a:t>When multiple transactions are performed on the database simultaneously, it is important that these operations are executed in an interleaved manner. This means that the actions of one user should not interfere with or affect the actions of another. This helps in maintaining the consistency of the database. </a:t>
            </a:r>
          </a:p>
        </p:txBody>
      </p:sp>
      <p:sp>
        <p:nvSpPr>
          <p:cNvPr id="4" name="Title 1"/>
          <p:cNvSpPr txBox="1">
            <a:spLocks/>
          </p:cNvSpPr>
          <p:nvPr/>
        </p:nvSpPr>
        <p:spPr>
          <a:xfrm>
            <a:off x="76200" y="76200"/>
            <a:ext cx="90678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a:t>Concurrent Execution and Related Challenges </a:t>
            </a:r>
          </a:p>
        </p:txBody>
      </p:sp>
    </p:spTree>
    <p:extLst>
      <p:ext uri="{BB962C8B-B14F-4D97-AF65-F5344CB8AC3E}">
        <p14:creationId xmlns:p14="http://schemas.microsoft.com/office/powerpoint/2010/main" val="8120822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10319" y="838200"/>
            <a:ext cx="8985624" cy="4495800"/>
          </a:xfrm>
          <a:prstGeom prst="rect">
            <a:avLst/>
          </a:prstGeom>
        </p:spPr>
      </p:pic>
      <p:sp>
        <p:nvSpPr>
          <p:cNvPr id="4" name="Title 1"/>
          <p:cNvSpPr txBox="1">
            <a:spLocks/>
          </p:cNvSpPr>
          <p:nvPr/>
        </p:nvSpPr>
        <p:spPr>
          <a:xfrm>
            <a:off x="76200" y="76200"/>
            <a:ext cx="90678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a:t>Concurrent Execution and Related Challenges </a:t>
            </a:r>
          </a:p>
        </p:txBody>
      </p:sp>
    </p:spTree>
    <p:extLst>
      <p:ext uri="{BB962C8B-B14F-4D97-AF65-F5344CB8AC3E}">
        <p14:creationId xmlns:p14="http://schemas.microsoft.com/office/powerpoint/2010/main" val="15631144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94397" y="914400"/>
            <a:ext cx="8737036" cy="4876800"/>
          </a:xfrm>
          <a:prstGeom prst="rect">
            <a:avLst/>
          </a:prstGeom>
        </p:spPr>
      </p:pic>
      <p:sp>
        <p:nvSpPr>
          <p:cNvPr id="4" name="Title 1"/>
          <p:cNvSpPr txBox="1">
            <a:spLocks/>
          </p:cNvSpPr>
          <p:nvPr/>
        </p:nvSpPr>
        <p:spPr>
          <a:xfrm>
            <a:off x="76200" y="76200"/>
            <a:ext cx="90678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smtClean="0"/>
              <a:t>Needed for Concurrency control?</a:t>
            </a:r>
            <a:endParaRPr lang="en-US" sz="3600" b="1" dirty="0"/>
          </a:p>
        </p:txBody>
      </p:sp>
    </p:spTree>
    <p:extLst>
      <p:ext uri="{BB962C8B-B14F-4D97-AF65-F5344CB8AC3E}">
        <p14:creationId xmlns:p14="http://schemas.microsoft.com/office/powerpoint/2010/main" val="31357913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53411"/>
            <a:ext cx="8991600" cy="3613790"/>
          </a:xfrm>
        </p:spPr>
        <p:txBody>
          <a:bodyPr>
            <a:normAutofit/>
          </a:bodyPr>
          <a:lstStyle/>
          <a:p>
            <a:pPr fontAlgn="base"/>
            <a:r>
              <a:rPr lang="en-US" b="1" dirty="0"/>
              <a:t>Without Concurrency Control</a:t>
            </a:r>
            <a:r>
              <a:rPr lang="en-US" dirty="0"/>
              <a:t>: Transactions interfere with each other, causing issues like lost updates, dirty reads or inconsistent results.</a:t>
            </a:r>
          </a:p>
          <a:p>
            <a:pPr fontAlgn="base"/>
            <a:r>
              <a:rPr lang="en-US" b="1" dirty="0"/>
              <a:t>With Concurrency Control</a:t>
            </a:r>
            <a:r>
              <a:rPr lang="en-US" dirty="0"/>
              <a:t>: Transactions are properly managed (e.g., using locks or timestamps) to ensure they execute in a consistent, isolated manner, preserving data accuracy</a:t>
            </a:r>
            <a:r>
              <a:rPr lang="en-US" dirty="0" smtClean="0"/>
              <a:t>.</a:t>
            </a:r>
          </a:p>
          <a:p>
            <a:pPr marL="0" indent="0" fontAlgn="base">
              <a:buNone/>
            </a:pPr>
            <a:endParaRPr lang="en-US" dirty="0"/>
          </a:p>
        </p:txBody>
      </p:sp>
      <p:sp>
        <p:nvSpPr>
          <p:cNvPr id="4" name="Title 1"/>
          <p:cNvSpPr txBox="1">
            <a:spLocks/>
          </p:cNvSpPr>
          <p:nvPr/>
        </p:nvSpPr>
        <p:spPr>
          <a:xfrm>
            <a:off x="76200" y="76200"/>
            <a:ext cx="90678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smtClean="0"/>
              <a:t>Needed for Concurrency control?</a:t>
            </a:r>
            <a:endParaRPr lang="en-US" sz="3600" b="1" dirty="0"/>
          </a:p>
        </p:txBody>
      </p:sp>
      <p:sp>
        <p:nvSpPr>
          <p:cNvPr id="5" name="Rectangle 4"/>
          <p:cNvSpPr/>
          <p:nvPr/>
        </p:nvSpPr>
        <p:spPr>
          <a:xfrm>
            <a:off x="0" y="4280850"/>
            <a:ext cx="9067800" cy="1938992"/>
          </a:xfrm>
          <a:prstGeom prst="rect">
            <a:avLst/>
          </a:prstGeom>
        </p:spPr>
        <p:txBody>
          <a:bodyPr wrap="square">
            <a:spAutoFit/>
          </a:bodyPr>
          <a:lstStyle/>
          <a:p>
            <a:r>
              <a:rPr lang="en-US" sz="2400" dirty="0">
                <a:solidFill>
                  <a:srgbClr val="273239"/>
                </a:solidFill>
                <a:latin typeface="Times New Roman" panose="02020603050405020304" pitchFamily="18" charset="0"/>
                <a:cs typeface="Times New Roman" panose="02020603050405020304" pitchFamily="18" charset="0"/>
              </a:rPr>
              <a:t>Concurrency control is critical to maintaining the accuracy and reliability of databases in multi-user environments</a:t>
            </a:r>
            <a:r>
              <a:rPr lang="en-US" sz="2400" dirty="0" smtClean="0">
                <a:solidFill>
                  <a:srgbClr val="273239"/>
                </a:solidFill>
                <a:latin typeface="Times New Roman" panose="02020603050405020304" pitchFamily="18" charset="0"/>
                <a:cs typeface="Times New Roman" panose="02020603050405020304" pitchFamily="18" charset="0"/>
              </a:rPr>
              <a:t>.</a:t>
            </a:r>
          </a:p>
          <a:p>
            <a:r>
              <a:rPr lang="en-US" sz="2400" dirty="0" smtClean="0">
                <a:solidFill>
                  <a:srgbClr val="273239"/>
                </a:solidFill>
                <a:latin typeface="Times New Roman" panose="02020603050405020304" pitchFamily="18" charset="0"/>
                <a:cs typeface="Times New Roman" panose="02020603050405020304" pitchFamily="18" charset="0"/>
              </a:rPr>
              <a:t>By </a:t>
            </a:r>
            <a:r>
              <a:rPr lang="en-US" sz="2400" dirty="0">
                <a:solidFill>
                  <a:srgbClr val="273239"/>
                </a:solidFill>
                <a:latin typeface="Times New Roman" panose="02020603050405020304" pitchFamily="18" charset="0"/>
                <a:cs typeface="Times New Roman" panose="02020603050405020304" pitchFamily="18" charset="0"/>
              </a:rPr>
              <a:t>preventing </a:t>
            </a:r>
            <a:r>
              <a:rPr lang="en-US" sz="2400" b="1" dirty="0">
                <a:solidFill>
                  <a:srgbClr val="FF0000"/>
                </a:solidFill>
                <a:latin typeface="Times New Roman" panose="02020603050405020304" pitchFamily="18" charset="0"/>
                <a:cs typeface="Times New Roman" panose="02020603050405020304" pitchFamily="18" charset="0"/>
              </a:rPr>
              <a:t>conflicts</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273239"/>
                </a:solidFill>
                <a:latin typeface="Times New Roman" panose="02020603050405020304" pitchFamily="18" charset="0"/>
                <a:cs typeface="Times New Roman" panose="02020603050405020304" pitchFamily="18" charset="0"/>
              </a:rPr>
              <a:t>and </a:t>
            </a:r>
            <a:r>
              <a:rPr lang="en-US" sz="2400" b="1" dirty="0">
                <a:solidFill>
                  <a:srgbClr val="FF0000"/>
                </a:solidFill>
                <a:latin typeface="Times New Roman" panose="02020603050405020304" pitchFamily="18" charset="0"/>
                <a:cs typeface="Times New Roman" panose="02020603050405020304" pitchFamily="18" charset="0"/>
              </a:rPr>
              <a:t>inconsistencies</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solidFill>
                  <a:srgbClr val="273239"/>
                </a:solidFill>
                <a:latin typeface="Times New Roman" panose="02020603050405020304" pitchFamily="18" charset="0"/>
                <a:cs typeface="Times New Roman" panose="02020603050405020304" pitchFamily="18" charset="0"/>
              </a:rPr>
              <a:t>during concurrent transactions, it ensures the database remains consistent and correct, </a:t>
            </a:r>
            <a:endParaRPr lang="en-US" sz="2400" dirty="0" smtClean="0">
              <a:solidFill>
                <a:srgbClr val="273239"/>
              </a:solidFill>
              <a:latin typeface="Times New Roman" panose="02020603050405020304" pitchFamily="18" charset="0"/>
              <a:cs typeface="Times New Roman" panose="02020603050405020304" pitchFamily="18" charset="0"/>
            </a:endParaRPr>
          </a:p>
          <a:p>
            <a:r>
              <a:rPr lang="en-US" sz="2400" dirty="0" smtClean="0">
                <a:solidFill>
                  <a:srgbClr val="273239"/>
                </a:solidFill>
                <a:latin typeface="Times New Roman" panose="02020603050405020304" pitchFamily="18" charset="0"/>
                <a:cs typeface="Times New Roman" panose="02020603050405020304" pitchFamily="18" charset="0"/>
              </a:rPr>
              <a:t>even </a:t>
            </a:r>
            <a:r>
              <a:rPr lang="en-US" sz="2400" dirty="0">
                <a:solidFill>
                  <a:srgbClr val="273239"/>
                </a:solidFill>
                <a:latin typeface="Times New Roman" panose="02020603050405020304" pitchFamily="18" charset="0"/>
                <a:cs typeface="Times New Roman" panose="02020603050405020304" pitchFamily="18" charset="0"/>
              </a:rPr>
              <a:t>under high levels of simultaneous activity.</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84972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39762"/>
            <a:ext cx="8763000" cy="4648201"/>
          </a:xfrm>
        </p:spPr>
        <p:txBody>
          <a:bodyPr>
            <a:normAutofit fontScale="92500" lnSpcReduction="10000"/>
          </a:bodyPr>
          <a:lstStyle/>
          <a:p>
            <a:pPr marL="0" indent="0" fontAlgn="base">
              <a:buNone/>
            </a:pPr>
            <a:r>
              <a:rPr lang="en-US" b="1" dirty="0"/>
              <a:t>Concurrency Control Protocols</a:t>
            </a:r>
          </a:p>
          <a:p>
            <a:pPr fontAlgn="base"/>
            <a:r>
              <a:rPr lang="en-US" dirty="0"/>
              <a:t>Concurrency control protocols are the set of rules which are maintained in order to solve the concurrency control problems in the database. </a:t>
            </a:r>
            <a:endParaRPr lang="en-US" dirty="0" smtClean="0"/>
          </a:p>
          <a:p>
            <a:pPr fontAlgn="base"/>
            <a:r>
              <a:rPr lang="en-US" dirty="0" smtClean="0"/>
              <a:t>It </a:t>
            </a:r>
            <a:r>
              <a:rPr lang="en-US" dirty="0"/>
              <a:t>ensures that the concurrent transactions can execute properly while maintaining the database consistency. </a:t>
            </a:r>
            <a:endParaRPr lang="en-US" dirty="0" smtClean="0"/>
          </a:p>
          <a:p>
            <a:pPr fontAlgn="base"/>
            <a:r>
              <a:rPr lang="en-US" dirty="0" smtClean="0"/>
              <a:t>The </a:t>
            </a:r>
            <a:r>
              <a:rPr lang="en-US" dirty="0"/>
              <a:t>concurrent execution of a transaction is provided with atomicity, consistency, isolation, durability, and </a:t>
            </a:r>
            <a:r>
              <a:rPr lang="en-US" dirty="0" err="1"/>
              <a:t>serializability</a:t>
            </a:r>
            <a:r>
              <a:rPr lang="en-US" dirty="0"/>
              <a:t> via the concurrency control protocols.</a:t>
            </a:r>
          </a:p>
          <a:p>
            <a:endParaRPr lang="en-US" dirty="0"/>
          </a:p>
        </p:txBody>
      </p:sp>
      <p:sp>
        <p:nvSpPr>
          <p:cNvPr id="4" name="Title 1"/>
          <p:cNvSpPr txBox="1">
            <a:spLocks/>
          </p:cNvSpPr>
          <p:nvPr/>
        </p:nvSpPr>
        <p:spPr>
          <a:xfrm>
            <a:off x="76200" y="76200"/>
            <a:ext cx="90678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smtClean="0"/>
              <a:t>Concurrency control protocols</a:t>
            </a:r>
            <a:endParaRPr lang="en-US" sz="3600" b="1" dirty="0"/>
          </a:p>
        </p:txBody>
      </p:sp>
    </p:spTree>
    <p:extLst>
      <p:ext uri="{BB962C8B-B14F-4D97-AF65-F5344CB8AC3E}">
        <p14:creationId xmlns:p14="http://schemas.microsoft.com/office/powerpoint/2010/main" val="27811419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0" y="1295400"/>
            <a:ext cx="9283524" cy="5562600"/>
          </a:xfrm>
          <a:prstGeom prst="rect">
            <a:avLst/>
          </a:prstGeom>
        </p:spPr>
      </p:pic>
      <p:sp>
        <p:nvSpPr>
          <p:cNvPr id="5" name="Title 1"/>
          <p:cNvSpPr txBox="1">
            <a:spLocks/>
          </p:cNvSpPr>
          <p:nvPr/>
        </p:nvSpPr>
        <p:spPr>
          <a:xfrm>
            <a:off x="76200" y="76200"/>
            <a:ext cx="9067800" cy="563562"/>
          </a:xfrm>
          <a:prstGeom prst="rect">
            <a:avLst/>
          </a:prstGeom>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smtClean="0"/>
              <a:t>Concurrency control protocols</a:t>
            </a:r>
            <a:endParaRPr lang="en-US" sz="3600" b="1" dirty="0"/>
          </a:p>
        </p:txBody>
      </p:sp>
    </p:spTree>
    <p:extLst>
      <p:ext uri="{BB962C8B-B14F-4D97-AF65-F5344CB8AC3E}">
        <p14:creationId xmlns:p14="http://schemas.microsoft.com/office/powerpoint/2010/main" val="42666806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762000"/>
            <a:ext cx="8839200" cy="5943600"/>
          </a:xfrm>
        </p:spPr>
        <p:txBody>
          <a:bodyPr>
            <a:normAutofit/>
          </a:bodyPr>
          <a:lstStyle/>
          <a:p>
            <a:r>
              <a:rPr lang="en-US" dirty="0"/>
              <a:t> </a:t>
            </a:r>
            <a:r>
              <a:rPr lang="en-US" dirty="0" smtClean="0"/>
              <a:t>Lock-based </a:t>
            </a:r>
            <a:r>
              <a:rPr lang="en-US" dirty="0"/>
              <a:t>concurrency control (BCC</a:t>
            </a:r>
            <a:r>
              <a:rPr lang="en-US" b="1" dirty="0"/>
              <a:t>)</a:t>
            </a:r>
            <a:r>
              <a:rPr lang="en-US" dirty="0"/>
              <a:t> is a method used to manage how multiple transactions access the same data. </a:t>
            </a:r>
            <a:endParaRPr lang="en-US" dirty="0" smtClean="0"/>
          </a:p>
          <a:p>
            <a:r>
              <a:rPr lang="en-US" dirty="0" smtClean="0"/>
              <a:t>This </a:t>
            </a:r>
            <a:r>
              <a:rPr lang="en-US" dirty="0"/>
              <a:t>protocol ensures data consistency and integrity when multiple users interact with the database simultaneously</a:t>
            </a:r>
            <a:r>
              <a:rPr lang="en-US" dirty="0" smtClean="0"/>
              <a:t>.</a:t>
            </a:r>
          </a:p>
          <a:p>
            <a:r>
              <a:rPr lang="en-US" dirty="0"/>
              <a:t>This method uses locks to manage access to data, ensuring transactions don’t clash and everything runs smoothly when multiple transactions happen at the same time. </a:t>
            </a:r>
          </a:p>
        </p:txBody>
      </p:sp>
      <p:sp>
        <p:nvSpPr>
          <p:cNvPr id="4" name="Title 1"/>
          <p:cNvSpPr txBox="1">
            <a:spLocks/>
          </p:cNvSpPr>
          <p:nvPr/>
        </p:nvSpPr>
        <p:spPr>
          <a:xfrm>
            <a:off x="76200" y="76200"/>
            <a:ext cx="90678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smtClean="0"/>
              <a:t>Lock based protocol</a:t>
            </a:r>
            <a:endParaRPr lang="en-US" sz="3600" b="1" dirty="0"/>
          </a:p>
        </p:txBody>
      </p:sp>
    </p:spTree>
    <p:extLst>
      <p:ext uri="{BB962C8B-B14F-4D97-AF65-F5344CB8AC3E}">
        <p14:creationId xmlns:p14="http://schemas.microsoft.com/office/powerpoint/2010/main" val="2327523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39762"/>
            <a:ext cx="8915400" cy="5989638"/>
          </a:xfrm>
        </p:spPr>
        <p:txBody>
          <a:bodyPr>
            <a:normAutofit fontScale="92500"/>
          </a:bodyPr>
          <a:lstStyle/>
          <a:p>
            <a:pPr marL="0" indent="0" fontAlgn="base">
              <a:buNone/>
            </a:pPr>
            <a:r>
              <a:rPr lang="en-US" b="1" dirty="0"/>
              <a:t>What is a Lock?</a:t>
            </a:r>
          </a:p>
          <a:p>
            <a:pPr fontAlgn="base"/>
            <a:r>
              <a:rPr lang="en-US" dirty="0"/>
              <a:t>A lock is a variable associated with a data item that indicates whether it is currently in use or available for other operations. </a:t>
            </a:r>
            <a:endParaRPr lang="en-US" dirty="0" smtClean="0"/>
          </a:p>
          <a:p>
            <a:pPr fontAlgn="base"/>
            <a:r>
              <a:rPr lang="en-US" dirty="0" smtClean="0"/>
              <a:t>Locks </a:t>
            </a:r>
            <a:r>
              <a:rPr lang="en-US" dirty="0"/>
              <a:t>are essential for managing access to data during concurrent transactions. When one transaction is accessing or modifying a data item, a lock ensures that other transactions cannot interfere with it, maintaining data integrity and preventing conflicts. </a:t>
            </a:r>
            <a:endParaRPr lang="en-US" dirty="0" smtClean="0"/>
          </a:p>
          <a:p>
            <a:pPr fontAlgn="base"/>
            <a:r>
              <a:rPr lang="en-US" dirty="0" smtClean="0"/>
              <a:t>This </a:t>
            </a:r>
            <a:r>
              <a:rPr lang="en-US" dirty="0"/>
              <a:t>process, known as locking, is a widely used method to ensure smooth and consistent operation in database systems.</a:t>
            </a:r>
          </a:p>
          <a:p>
            <a:endParaRPr lang="en-US" dirty="0"/>
          </a:p>
        </p:txBody>
      </p:sp>
      <p:sp>
        <p:nvSpPr>
          <p:cNvPr id="4" name="Title 1"/>
          <p:cNvSpPr txBox="1">
            <a:spLocks/>
          </p:cNvSpPr>
          <p:nvPr/>
        </p:nvSpPr>
        <p:spPr>
          <a:xfrm>
            <a:off x="76200" y="76200"/>
            <a:ext cx="90678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fontAlgn="base"/>
            <a:r>
              <a:rPr lang="en-US" sz="3600" b="1" dirty="0" smtClean="0"/>
              <a:t>Lock based protocol</a:t>
            </a:r>
            <a:endParaRPr lang="en-US" sz="3600" b="1" dirty="0"/>
          </a:p>
        </p:txBody>
      </p:sp>
    </p:spTree>
    <p:extLst>
      <p:ext uri="{BB962C8B-B14F-4D97-AF65-F5344CB8AC3E}">
        <p14:creationId xmlns:p14="http://schemas.microsoft.com/office/powerpoint/2010/main" val="342786999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0"/>
            <a:ext cx="8686800" cy="5867400"/>
          </a:xfrm>
        </p:spPr>
        <p:txBody>
          <a:bodyPr/>
          <a:lstStyle/>
          <a:p>
            <a:pPr fontAlgn="base"/>
            <a:r>
              <a:rPr lang="en-US" dirty="0"/>
              <a:t>These protocols prevent concurrency issues by allowing only one transaction to access a specific data item at a time.</a:t>
            </a:r>
          </a:p>
          <a:p>
            <a:pPr fontAlgn="base"/>
            <a:r>
              <a:rPr lang="en-US" dirty="0"/>
              <a:t>Locks help multiple transactions work together smoothly by managing access to the database items.</a:t>
            </a:r>
          </a:p>
          <a:p>
            <a:pPr fontAlgn="base"/>
            <a:r>
              <a:rPr lang="en-US" dirty="0"/>
              <a:t>Locking is a common method used to maintain the </a:t>
            </a:r>
            <a:r>
              <a:rPr lang="en-US" u="sng" dirty="0" err="1">
                <a:hlinkClick r:id="rId2"/>
              </a:rPr>
              <a:t>serializability</a:t>
            </a:r>
            <a:r>
              <a:rPr lang="en-US" dirty="0"/>
              <a:t> of transactions.</a:t>
            </a:r>
          </a:p>
          <a:p>
            <a:pPr fontAlgn="base"/>
            <a:r>
              <a:rPr lang="en-US" dirty="0"/>
              <a:t>A transaction must acquire a read lock or write lock on a data item before performing any read or write operations on it.</a:t>
            </a:r>
          </a:p>
          <a:p>
            <a:endParaRPr lang="en-US" dirty="0"/>
          </a:p>
        </p:txBody>
      </p:sp>
      <p:sp>
        <p:nvSpPr>
          <p:cNvPr id="4" name="Title 1"/>
          <p:cNvSpPr txBox="1">
            <a:spLocks/>
          </p:cNvSpPr>
          <p:nvPr/>
        </p:nvSpPr>
        <p:spPr>
          <a:xfrm>
            <a:off x="76200" y="76200"/>
            <a:ext cx="90678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Lock Based Protocols</a:t>
            </a:r>
          </a:p>
        </p:txBody>
      </p:sp>
    </p:spTree>
    <p:extLst>
      <p:ext uri="{BB962C8B-B14F-4D97-AF65-F5344CB8AC3E}">
        <p14:creationId xmlns:p14="http://schemas.microsoft.com/office/powerpoint/2010/main" val="32547791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76200" y="990600"/>
            <a:ext cx="8972973" cy="2590800"/>
          </a:xfrm>
          <a:prstGeom prst="rect">
            <a:avLst/>
          </a:prstGeom>
        </p:spPr>
      </p:pic>
      <p:sp>
        <p:nvSpPr>
          <p:cNvPr id="4" name="Title 1"/>
          <p:cNvSpPr txBox="1">
            <a:spLocks/>
          </p:cNvSpPr>
          <p:nvPr/>
        </p:nvSpPr>
        <p:spPr>
          <a:xfrm>
            <a:off x="76200" y="76200"/>
            <a:ext cx="90678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Types of Locks</a:t>
            </a:r>
            <a:endParaRPr lang="en-US" sz="3600" b="1" dirty="0"/>
          </a:p>
        </p:txBody>
      </p:sp>
    </p:spTree>
    <p:extLst>
      <p:ext uri="{BB962C8B-B14F-4D97-AF65-F5344CB8AC3E}">
        <p14:creationId xmlns:p14="http://schemas.microsoft.com/office/powerpoint/2010/main" val="11249224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39762"/>
            <a:ext cx="8839200" cy="5989638"/>
          </a:xfrm>
        </p:spPr>
        <p:txBody>
          <a:bodyPr>
            <a:normAutofit fontScale="92500" lnSpcReduction="20000"/>
          </a:bodyPr>
          <a:lstStyle/>
          <a:p>
            <a:pPr fontAlgn="base"/>
            <a:r>
              <a:rPr lang="en-US" dirty="0" smtClean="0"/>
              <a:t>The </a:t>
            </a:r>
            <a:r>
              <a:rPr lang="en-US" dirty="0"/>
              <a:t>basic rules for Locking are given below :</a:t>
            </a:r>
          </a:p>
          <a:p>
            <a:pPr marL="0" indent="0" fontAlgn="base">
              <a:buNone/>
            </a:pPr>
            <a:r>
              <a:rPr lang="en-US" b="1" dirty="0">
                <a:solidFill>
                  <a:srgbClr val="C00000"/>
                </a:solidFill>
              </a:rPr>
              <a:t>Read Lock (or) Shared Lock(S)</a:t>
            </a:r>
            <a:endParaRPr lang="en-US" dirty="0">
              <a:solidFill>
                <a:srgbClr val="C00000"/>
              </a:solidFill>
            </a:endParaRPr>
          </a:p>
          <a:p>
            <a:pPr fontAlgn="base"/>
            <a:r>
              <a:rPr lang="en-US" dirty="0"/>
              <a:t>❖ If a Transaction has a Read lock on a data item, it can read the item but not update it.</a:t>
            </a:r>
            <a:br>
              <a:rPr lang="en-US" dirty="0"/>
            </a:br>
            <a:r>
              <a:rPr lang="en-US" dirty="0"/>
              <a:t>❖ If a transaction has a Read lock on the data item, other transaction can obtain Read Lock on the data item but no Write Locks.</a:t>
            </a:r>
            <a:br>
              <a:rPr lang="en-US" dirty="0"/>
            </a:br>
            <a:r>
              <a:rPr lang="en-US" dirty="0"/>
              <a:t>❖ So, the Read Lock is also called a Shared Lock.</a:t>
            </a:r>
          </a:p>
          <a:p>
            <a:pPr marL="0" indent="0" fontAlgn="base">
              <a:buNone/>
            </a:pPr>
            <a:r>
              <a:rPr lang="en-US" b="1" dirty="0">
                <a:solidFill>
                  <a:srgbClr val="C00000"/>
                </a:solidFill>
              </a:rPr>
              <a:t>Write Lock (or) Exclusive Lock (X)</a:t>
            </a:r>
            <a:endParaRPr lang="en-US" dirty="0">
              <a:solidFill>
                <a:srgbClr val="C00000"/>
              </a:solidFill>
            </a:endParaRPr>
          </a:p>
          <a:p>
            <a:pPr fontAlgn="base"/>
            <a:r>
              <a:rPr lang="en-US" dirty="0"/>
              <a:t>❖ If a transaction has a write Lock on a data item, it can both read and update the data item.</a:t>
            </a:r>
            <a:br>
              <a:rPr lang="en-US" dirty="0"/>
            </a:br>
            <a:r>
              <a:rPr lang="en-US" dirty="0"/>
              <a:t>❖ If a transaction has a write Lock on the data item, then other transactions cannot obtain either a Read lock or write lock on the data item.</a:t>
            </a:r>
            <a:br>
              <a:rPr lang="en-US" dirty="0"/>
            </a:br>
            <a:r>
              <a:rPr lang="en-US" dirty="0"/>
              <a:t>❖ So, the Write Lock is also known as Exclusive Lock.</a:t>
            </a:r>
          </a:p>
          <a:p>
            <a:pPr marL="0" indent="0">
              <a:buNone/>
            </a:pPr>
            <a:endParaRPr lang="en-US" dirty="0"/>
          </a:p>
        </p:txBody>
      </p:sp>
      <p:sp>
        <p:nvSpPr>
          <p:cNvPr id="4" name="Title 1"/>
          <p:cNvSpPr txBox="1">
            <a:spLocks/>
          </p:cNvSpPr>
          <p:nvPr/>
        </p:nvSpPr>
        <p:spPr>
          <a:xfrm>
            <a:off x="0" y="76200"/>
            <a:ext cx="91440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Rules of Locking</a:t>
            </a:r>
            <a:endParaRPr lang="en-US" sz="3600" b="1" dirty="0"/>
          </a:p>
        </p:txBody>
      </p:sp>
    </p:spTree>
    <p:extLst>
      <p:ext uri="{BB962C8B-B14F-4D97-AF65-F5344CB8AC3E}">
        <p14:creationId xmlns:p14="http://schemas.microsoft.com/office/powerpoint/2010/main" val="31102245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762000"/>
            <a:ext cx="8686800" cy="5867400"/>
          </a:xfrm>
        </p:spPr>
        <p:txBody>
          <a:bodyPr>
            <a:normAutofit fontScale="92500" lnSpcReduction="10000"/>
          </a:bodyPr>
          <a:lstStyle/>
          <a:p>
            <a:pPr fontAlgn="base"/>
            <a:r>
              <a:rPr lang="en-US" dirty="0"/>
              <a:t>A transaction can acquire a lock on a data item only if the requested lock is compatible with existing locks held by other transactions.</a:t>
            </a:r>
          </a:p>
          <a:p>
            <a:pPr fontAlgn="base"/>
            <a:r>
              <a:rPr lang="en-US" b="1" dirty="0"/>
              <a:t>Shared Locks (S):</a:t>
            </a:r>
            <a:r>
              <a:rPr lang="en-US" dirty="0"/>
              <a:t> Multiple transactions can hold shared locks on the same data item simultaneously.</a:t>
            </a:r>
          </a:p>
          <a:p>
            <a:pPr fontAlgn="base"/>
            <a:r>
              <a:rPr lang="en-US" b="1" dirty="0"/>
              <a:t>Exclusive Lock (X):</a:t>
            </a:r>
            <a:r>
              <a:rPr lang="en-US" dirty="0"/>
              <a:t> If a transaction holds an exclusive lock on a data item, no other transaction can hold any type of lock on that item.</a:t>
            </a:r>
          </a:p>
          <a:p>
            <a:pPr fontAlgn="base"/>
            <a:r>
              <a:rPr lang="en-US" dirty="0"/>
              <a:t>If a requested lock is not compatible, the requesting transaction must wait until all incompatible locks are released by other transactions.</a:t>
            </a:r>
          </a:p>
          <a:p>
            <a:pPr fontAlgn="base"/>
            <a:r>
              <a:rPr lang="en-US" dirty="0"/>
              <a:t>Once the incompatible locks are released, the requested lock is granted</a:t>
            </a:r>
            <a:r>
              <a:rPr lang="en-US" dirty="0" smtClean="0"/>
              <a:t>.</a:t>
            </a:r>
            <a:endParaRPr lang="en-US" dirty="0"/>
          </a:p>
        </p:txBody>
      </p:sp>
      <p:sp>
        <p:nvSpPr>
          <p:cNvPr id="4" name="Title 1"/>
          <p:cNvSpPr txBox="1">
            <a:spLocks/>
          </p:cNvSpPr>
          <p:nvPr/>
        </p:nvSpPr>
        <p:spPr>
          <a:xfrm>
            <a:off x="0" y="76200"/>
            <a:ext cx="91440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Lock </a:t>
            </a:r>
            <a:r>
              <a:rPr lang="en-US" sz="3600" b="1" dirty="0"/>
              <a:t>Compatibility </a:t>
            </a:r>
            <a:r>
              <a:rPr lang="en-US" sz="3600" b="1" dirty="0" smtClean="0"/>
              <a:t>Matrix</a:t>
            </a:r>
            <a:endParaRPr lang="en-US" sz="3600" b="1" dirty="0"/>
          </a:p>
        </p:txBody>
      </p:sp>
    </p:spTree>
    <p:extLst>
      <p:ext uri="{BB962C8B-B14F-4D97-AF65-F5344CB8AC3E}">
        <p14:creationId xmlns:p14="http://schemas.microsoft.com/office/powerpoint/2010/main" val="16566512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57200" y="1752600"/>
            <a:ext cx="7862104" cy="2971800"/>
          </a:xfrm>
          <a:prstGeom prst="rect">
            <a:avLst/>
          </a:prstGeom>
        </p:spPr>
      </p:pic>
      <p:sp>
        <p:nvSpPr>
          <p:cNvPr id="5" name="Title 1"/>
          <p:cNvSpPr txBox="1">
            <a:spLocks/>
          </p:cNvSpPr>
          <p:nvPr/>
        </p:nvSpPr>
        <p:spPr>
          <a:xfrm>
            <a:off x="0" y="76200"/>
            <a:ext cx="91440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Lock </a:t>
            </a:r>
            <a:r>
              <a:rPr lang="en-US" sz="3600" b="1" dirty="0"/>
              <a:t>Compatibility </a:t>
            </a:r>
            <a:r>
              <a:rPr lang="en-US" sz="3600" b="1" dirty="0" smtClean="0"/>
              <a:t>Matrix</a:t>
            </a:r>
            <a:endParaRPr lang="en-US" sz="3600" b="1" dirty="0"/>
          </a:p>
        </p:txBody>
      </p:sp>
    </p:spTree>
    <p:extLst>
      <p:ext uri="{BB962C8B-B14F-4D97-AF65-F5344CB8AC3E}">
        <p14:creationId xmlns:p14="http://schemas.microsoft.com/office/powerpoint/2010/main" val="24556455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838200"/>
            <a:ext cx="8534400" cy="5791200"/>
          </a:xfrm>
        </p:spPr>
        <p:txBody>
          <a:bodyPr/>
          <a:lstStyle/>
          <a:p>
            <a:pPr fontAlgn="base"/>
            <a:r>
              <a:rPr lang="en-US" dirty="0"/>
              <a:t>Concurrency Control Protocols are the methods used to manage multiple transactions happening at the same time. They ensure that transactions are executed safely without interfering with each other, maintaining the accuracy and consistency of the database.</a:t>
            </a:r>
          </a:p>
          <a:p>
            <a:pPr fontAlgn="base"/>
            <a:r>
              <a:rPr lang="en-US" dirty="0"/>
              <a:t>These protocols prevent issues like data conflicts, lost updates or inconsistent data by controlling how transactions access and modify data</a:t>
            </a:r>
            <a:r>
              <a:rPr lang="en-US" dirty="0" smtClean="0"/>
              <a:t>.</a:t>
            </a:r>
            <a:endParaRPr lang="en-US" dirty="0"/>
          </a:p>
        </p:txBody>
      </p:sp>
      <p:sp>
        <p:nvSpPr>
          <p:cNvPr id="4" name="Title 1"/>
          <p:cNvSpPr txBox="1">
            <a:spLocks/>
          </p:cNvSpPr>
          <p:nvPr/>
        </p:nvSpPr>
        <p:spPr>
          <a:xfrm>
            <a:off x="0" y="76200"/>
            <a:ext cx="9144000" cy="56356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Concurrency Control </a:t>
            </a:r>
            <a:r>
              <a:rPr lang="en-US" sz="3600" b="1" dirty="0" smtClean="0"/>
              <a:t>Protocols</a:t>
            </a:r>
            <a:endParaRPr lang="en-US" sz="3600" b="1" dirty="0"/>
          </a:p>
        </p:txBody>
      </p:sp>
    </p:spTree>
    <p:extLst>
      <p:ext uri="{BB962C8B-B14F-4D97-AF65-F5344CB8AC3E}">
        <p14:creationId xmlns:p14="http://schemas.microsoft.com/office/powerpoint/2010/main" val="372533809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838200"/>
            <a:ext cx="8305800" cy="5867400"/>
          </a:xfrm>
        </p:spPr>
        <p:txBody>
          <a:bodyPr/>
          <a:lstStyle/>
          <a:p>
            <a:pPr marL="0" indent="0">
              <a:buNone/>
            </a:pPr>
            <a:r>
              <a:rPr lang="en-US" dirty="0" smtClean="0">
                <a:solidFill>
                  <a:srgbClr val="C00000"/>
                </a:solidFill>
              </a:rPr>
              <a:t>1. </a:t>
            </a:r>
            <a:r>
              <a:rPr lang="en-US" b="1" dirty="0">
                <a:solidFill>
                  <a:srgbClr val="C00000"/>
                </a:solidFill>
              </a:rPr>
              <a:t>Simplistic Lock Protocol</a:t>
            </a:r>
          </a:p>
          <a:p>
            <a:pPr marL="0" indent="0">
              <a:buNone/>
            </a:pPr>
            <a:r>
              <a:rPr lang="en-US" dirty="0" smtClean="0">
                <a:solidFill>
                  <a:srgbClr val="C00000"/>
                </a:solidFill>
              </a:rPr>
              <a:t>2. </a:t>
            </a:r>
            <a:r>
              <a:rPr lang="en-US" b="1" dirty="0">
                <a:solidFill>
                  <a:srgbClr val="C00000"/>
                </a:solidFill>
              </a:rPr>
              <a:t>Pre-Claiming Lock Protocol</a:t>
            </a:r>
          </a:p>
          <a:p>
            <a:pPr marL="0" indent="0">
              <a:buNone/>
            </a:pPr>
            <a:r>
              <a:rPr lang="en-US" dirty="0" smtClean="0">
                <a:solidFill>
                  <a:srgbClr val="C00000"/>
                </a:solidFill>
              </a:rPr>
              <a:t>3. </a:t>
            </a:r>
            <a:r>
              <a:rPr lang="en-US" b="1" dirty="0">
                <a:solidFill>
                  <a:srgbClr val="C00000"/>
                </a:solidFill>
              </a:rPr>
              <a:t>Two-phase locking (2PL)</a:t>
            </a:r>
          </a:p>
          <a:p>
            <a:pPr marL="0" indent="0">
              <a:buNone/>
            </a:pPr>
            <a:r>
              <a:rPr lang="en-US" dirty="0" smtClean="0">
                <a:solidFill>
                  <a:srgbClr val="C00000"/>
                </a:solidFill>
              </a:rPr>
              <a:t>4. </a:t>
            </a:r>
            <a:r>
              <a:rPr lang="en-US" b="1" dirty="0">
                <a:solidFill>
                  <a:srgbClr val="C00000"/>
                </a:solidFill>
              </a:rPr>
              <a:t>Strict Two-Phase Locking Protocol</a:t>
            </a:r>
          </a:p>
          <a:p>
            <a:pPr marL="0" indent="0">
              <a:buNone/>
            </a:pPr>
            <a:endParaRPr lang="en-US" dirty="0">
              <a:solidFill>
                <a:srgbClr val="C00000"/>
              </a:solidFill>
            </a:endParaRPr>
          </a:p>
        </p:txBody>
      </p:sp>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Types of Lock-Based </a:t>
            </a:r>
            <a:r>
              <a:rPr lang="en-US" sz="3600" b="1" dirty="0" smtClean="0"/>
              <a:t>Protocols</a:t>
            </a:r>
            <a:endParaRPr lang="en-US" sz="3600" b="1" dirty="0"/>
          </a:p>
        </p:txBody>
      </p:sp>
    </p:spTree>
    <p:extLst>
      <p:ext uri="{BB962C8B-B14F-4D97-AF65-F5344CB8AC3E}">
        <p14:creationId xmlns:p14="http://schemas.microsoft.com/office/powerpoint/2010/main" val="26233356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534400" cy="5867400"/>
          </a:xfrm>
        </p:spPr>
        <p:txBody>
          <a:bodyPr/>
          <a:lstStyle/>
          <a:p>
            <a:r>
              <a:rPr lang="en-US" dirty="0"/>
              <a:t>It is the simplest method for locking data during a transaction. Simple lock-based protocols enable all transactions to obtain a lock on the data before inserting, deleting, or updating it. </a:t>
            </a:r>
            <a:endParaRPr lang="en-US" dirty="0" smtClean="0"/>
          </a:p>
          <a:p>
            <a:r>
              <a:rPr lang="en-US" dirty="0" smtClean="0"/>
              <a:t>It </a:t>
            </a:r>
            <a:r>
              <a:rPr lang="en-US" dirty="0"/>
              <a:t>will unlock the data item once the transaction is completed.</a:t>
            </a:r>
          </a:p>
        </p:txBody>
      </p:sp>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Simplistic Lock protocol </a:t>
            </a:r>
            <a:endParaRPr lang="en-US" sz="3600" b="1" dirty="0"/>
          </a:p>
        </p:txBody>
      </p:sp>
      <p:pic>
        <p:nvPicPr>
          <p:cNvPr id="5" name="Picture 4"/>
          <p:cNvPicPr>
            <a:picLocks noChangeAspect="1"/>
          </p:cNvPicPr>
          <p:nvPr/>
        </p:nvPicPr>
        <p:blipFill>
          <a:blip r:embed="rId2"/>
          <a:stretch>
            <a:fillRect/>
          </a:stretch>
        </p:blipFill>
        <p:spPr>
          <a:xfrm>
            <a:off x="742950" y="4038599"/>
            <a:ext cx="6572250" cy="2550425"/>
          </a:xfrm>
          <a:prstGeom prst="rect">
            <a:avLst/>
          </a:prstGeom>
        </p:spPr>
      </p:pic>
    </p:spTree>
    <p:extLst>
      <p:ext uri="{BB962C8B-B14F-4D97-AF65-F5344CB8AC3E}">
        <p14:creationId xmlns:p14="http://schemas.microsoft.com/office/powerpoint/2010/main" val="39515641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7961" y="1066800"/>
            <a:ext cx="9213170" cy="4724400"/>
          </a:xfrm>
          <a:prstGeom prst="rect">
            <a:avLst/>
          </a:prstGeom>
        </p:spPr>
      </p:pic>
      <p:sp>
        <p:nvSpPr>
          <p:cNvPr id="5"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Simplistic Lock protocol </a:t>
            </a:r>
            <a:endParaRPr lang="en-US" sz="3600" b="1" dirty="0"/>
          </a:p>
        </p:txBody>
      </p:sp>
    </p:spTree>
    <p:extLst>
      <p:ext uri="{BB962C8B-B14F-4D97-AF65-F5344CB8AC3E}">
        <p14:creationId xmlns:p14="http://schemas.microsoft.com/office/powerpoint/2010/main" val="4008291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639762"/>
            <a:ext cx="8839200" cy="6218238"/>
          </a:xfrm>
        </p:spPr>
        <p:txBody>
          <a:bodyPr>
            <a:normAutofit lnSpcReduction="10000"/>
          </a:bodyPr>
          <a:lstStyle/>
          <a:p>
            <a:r>
              <a:rPr lang="en-US" dirty="0"/>
              <a:t>The Pre-Claiming Lock Protocol evaluates a transaction to identify all the data items that require locks. </a:t>
            </a:r>
            <a:endParaRPr lang="en-US" dirty="0" smtClean="0"/>
          </a:p>
          <a:p>
            <a:r>
              <a:rPr lang="en-US" dirty="0" smtClean="0"/>
              <a:t>Before </a:t>
            </a:r>
            <a:r>
              <a:rPr lang="en-US" dirty="0"/>
              <a:t>the transaction begins, it requests the database management system to grant locks on all necessary data elements. </a:t>
            </a:r>
            <a:endParaRPr lang="en-US" dirty="0" smtClean="0"/>
          </a:p>
          <a:p>
            <a:r>
              <a:rPr lang="en-US" dirty="0" smtClean="0"/>
              <a:t>If </a:t>
            </a:r>
            <a:r>
              <a:rPr lang="en-US" dirty="0"/>
              <a:t>all the requested locks are successfully acquired, the transaction proceeds. </a:t>
            </a:r>
            <a:endParaRPr lang="en-US" dirty="0" smtClean="0"/>
          </a:p>
          <a:p>
            <a:r>
              <a:rPr lang="en-US" dirty="0" smtClean="0"/>
              <a:t>Once </a:t>
            </a:r>
            <a:r>
              <a:rPr lang="en-US" dirty="0"/>
              <a:t>the transaction is completed, all locks are released. However, if any of the locks are unavailable, the transaction rolls back and waits until all required locks are granted before restarting.</a:t>
            </a:r>
          </a:p>
        </p:txBody>
      </p:sp>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Pre-Claiming Lock </a:t>
            </a:r>
            <a:r>
              <a:rPr lang="en-US" sz="3600" b="1" dirty="0" smtClean="0"/>
              <a:t>Protocol</a:t>
            </a:r>
            <a:endParaRPr lang="en-US" sz="3600" b="1" dirty="0"/>
          </a:p>
        </p:txBody>
      </p:sp>
    </p:spTree>
    <p:extLst>
      <p:ext uri="{BB962C8B-B14F-4D97-AF65-F5344CB8AC3E}">
        <p14:creationId xmlns:p14="http://schemas.microsoft.com/office/powerpoint/2010/main" val="9895012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Pre-Claiming Lock </a:t>
            </a:r>
            <a:r>
              <a:rPr lang="en-US" sz="3600" b="1" dirty="0" smtClean="0"/>
              <a:t>Protocol</a:t>
            </a:r>
            <a:endParaRPr lang="en-US" sz="3600" b="1" dirty="0"/>
          </a:p>
        </p:txBody>
      </p:sp>
      <p:pic>
        <p:nvPicPr>
          <p:cNvPr id="5" name="Picture 4"/>
          <p:cNvPicPr>
            <a:picLocks noChangeAspect="1"/>
          </p:cNvPicPr>
          <p:nvPr/>
        </p:nvPicPr>
        <p:blipFill>
          <a:blip r:embed="rId2"/>
          <a:stretch>
            <a:fillRect/>
          </a:stretch>
        </p:blipFill>
        <p:spPr>
          <a:xfrm>
            <a:off x="35257" y="762000"/>
            <a:ext cx="9020827" cy="5867400"/>
          </a:xfrm>
          <a:prstGeom prst="rect">
            <a:avLst/>
          </a:prstGeom>
        </p:spPr>
      </p:pic>
    </p:spTree>
    <p:extLst>
      <p:ext uri="{BB962C8B-B14F-4D97-AF65-F5344CB8AC3E}">
        <p14:creationId xmlns:p14="http://schemas.microsoft.com/office/powerpoint/2010/main" val="10639446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Pre-Claiming Lock </a:t>
            </a:r>
            <a:r>
              <a:rPr lang="en-US" sz="3600" b="1" dirty="0" smtClean="0"/>
              <a:t>Protocol</a:t>
            </a:r>
            <a:endParaRPr lang="en-US" sz="3600" b="1" dirty="0"/>
          </a:p>
        </p:txBody>
      </p:sp>
      <p:pic>
        <p:nvPicPr>
          <p:cNvPr id="5" name="Picture 4"/>
          <p:cNvPicPr>
            <a:picLocks noChangeAspect="1"/>
          </p:cNvPicPr>
          <p:nvPr/>
        </p:nvPicPr>
        <p:blipFill>
          <a:blip r:embed="rId2"/>
          <a:stretch>
            <a:fillRect/>
          </a:stretch>
        </p:blipFill>
        <p:spPr>
          <a:xfrm>
            <a:off x="228599" y="939528"/>
            <a:ext cx="8850181" cy="1727472"/>
          </a:xfrm>
          <a:prstGeom prst="rect">
            <a:avLst/>
          </a:prstGeom>
        </p:spPr>
      </p:pic>
    </p:spTree>
    <p:extLst>
      <p:ext uri="{BB962C8B-B14F-4D97-AF65-F5344CB8AC3E}">
        <p14:creationId xmlns:p14="http://schemas.microsoft.com/office/powerpoint/2010/main" val="15019307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639762"/>
            <a:ext cx="8763000" cy="5989638"/>
          </a:xfrm>
        </p:spPr>
        <p:txBody>
          <a:bodyPr/>
          <a:lstStyle/>
          <a:p>
            <a:pPr marL="0" indent="0" fontAlgn="base">
              <a:buNone/>
            </a:pPr>
            <a:r>
              <a:rPr lang="en-US" dirty="0"/>
              <a:t>A transaction is said to follow the Two-Phase Locking protocol if Locking and Unlocking can be done in two phases :</a:t>
            </a:r>
          </a:p>
          <a:p>
            <a:pPr fontAlgn="base"/>
            <a:r>
              <a:rPr lang="en-US" b="1" dirty="0"/>
              <a:t>Growing Phase:</a:t>
            </a:r>
            <a:r>
              <a:rPr lang="en-US" dirty="0"/>
              <a:t> In this step, the transaction gathers all the locks it needs to access the required data. During this phase, it cannot release any locks</a:t>
            </a:r>
            <a:r>
              <a:rPr lang="en-US" dirty="0" smtClean="0"/>
              <a:t>.</a:t>
            </a:r>
            <a:endParaRPr lang="en-US" dirty="0"/>
          </a:p>
          <a:p>
            <a:pPr fontAlgn="base"/>
            <a:r>
              <a:rPr lang="en-US" b="1" dirty="0"/>
              <a:t>Shrinking Phase:</a:t>
            </a:r>
            <a:r>
              <a:rPr lang="en-US" dirty="0"/>
              <a:t> Once a transaction starts releasing locks, it cannot acquire any new ones. This ensures that no other transaction interferes with the ongoing process</a:t>
            </a:r>
            <a:r>
              <a:rPr lang="en-US" dirty="0" smtClean="0"/>
              <a:t>.</a:t>
            </a:r>
            <a:endParaRPr lang="en-US" dirty="0"/>
          </a:p>
          <a:p>
            <a:endParaRPr lang="en-US" dirty="0"/>
          </a:p>
        </p:txBody>
      </p:sp>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 Two-phase locking (2PL</a:t>
            </a:r>
            <a:r>
              <a:rPr lang="en-US" sz="3600" b="1" dirty="0" smtClean="0"/>
              <a:t>)</a:t>
            </a:r>
            <a:endParaRPr lang="en-US" sz="3600" b="1" dirty="0"/>
          </a:p>
        </p:txBody>
      </p:sp>
    </p:spTree>
    <p:extLst>
      <p:ext uri="{BB962C8B-B14F-4D97-AF65-F5344CB8AC3E}">
        <p14:creationId xmlns:p14="http://schemas.microsoft.com/office/powerpoint/2010/main" val="408162741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839200" cy="5943600"/>
          </a:xfrm>
        </p:spPr>
        <p:txBody>
          <a:bodyPr>
            <a:normAutofit/>
          </a:bodyPr>
          <a:lstStyle/>
          <a:p>
            <a:r>
              <a:rPr lang="en-US" dirty="0"/>
              <a:t>The Two-Phase Locking (2PL) Protocol is a key technique used in database management systems to manage how multiple transactions access and modify data at the same time. </a:t>
            </a:r>
            <a:endParaRPr lang="en-US" dirty="0" smtClean="0"/>
          </a:p>
          <a:p>
            <a:r>
              <a:rPr lang="en-US" dirty="0" smtClean="0"/>
              <a:t>When </a:t>
            </a:r>
            <a:r>
              <a:rPr lang="en-US" dirty="0"/>
              <a:t>many users or processes interact with a database, it’s important to ensure that data remains consistent and error-free. </a:t>
            </a:r>
            <a:endParaRPr lang="en-US" dirty="0" smtClean="0"/>
          </a:p>
          <a:p>
            <a:r>
              <a:rPr lang="en-US" dirty="0" smtClean="0"/>
              <a:t>Without </a:t>
            </a:r>
            <a:r>
              <a:rPr lang="en-US" dirty="0"/>
              <a:t>proper management, issues like data conflicts or corruption can occur if two transactions try to use the same data simultaneously.</a:t>
            </a:r>
          </a:p>
        </p:txBody>
      </p:sp>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 Two-phase locking (2PL</a:t>
            </a:r>
            <a:r>
              <a:rPr lang="en-US" sz="3600" b="1" dirty="0" smtClean="0"/>
              <a:t>)</a:t>
            </a:r>
            <a:endParaRPr lang="en-US" sz="3600" b="1" dirty="0"/>
          </a:p>
        </p:txBody>
      </p:sp>
    </p:spTree>
    <p:extLst>
      <p:ext uri="{BB962C8B-B14F-4D97-AF65-F5344CB8AC3E}">
        <p14:creationId xmlns:p14="http://schemas.microsoft.com/office/powerpoint/2010/main" val="29763810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839200" cy="4525963"/>
          </a:xfrm>
        </p:spPr>
        <p:txBody>
          <a:bodyPr/>
          <a:lstStyle/>
          <a:p>
            <a:r>
              <a:rPr lang="en-US" dirty="0"/>
              <a:t>Strict Two-Phase Locking requires that in addition to the 2-PL all Exclusive(X) locks held by the transaction be released until after the Transaction Commits. </a:t>
            </a:r>
            <a:endParaRPr lang="en-US" dirty="0" smtClean="0"/>
          </a:p>
          <a:p>
            <a:endParaRPr lang="en-US" dirty="0"/>
          </a:p>
        </p:txBody>
      </p:sp>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a:t> Strict Two-Phase Locking </a:t>
            </a:r>
            <a:r>
              <a:rPr lang="en-US" sz="3600" b="1" dirty="0" smtClean="0"/>
              <a:t>Protocol</a:t>
            </a:r>
            <a:endParaRPr lang="en-US" sz="3600" b="1" dirty="0"/>
          </a:p>
        </p:txBody>
      </p:sp>
    </p:spTree>
    <p:extLst>
      <p:ext uri="{BB962C8B-B14F-4D97-AF65-F5344CB8AC3E}">
        <p14:creationId xmlns:p14="http://schemas.microsoft.com/office/powerpoint/2010/main" val="35497397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304800" y="286011"/>
            <a:ext cx="7315200" cy="6371720"/>
          </a:xfrm>
          <a:prstGeom prst="rect">
            <a:avLst/>
          </a:prstGeom>
        </p:spPr>
      </p:pic>
    </p:spTree>
    <p:extLst>
      <p:ext uri="{BB962C8B-B14F-4D97-AF65-F5344CB8AC3E}">
        <p14:creationId xmlns:p14="http://schemas.microsoft.com/office/powerpoint/2010/main" val="34241580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0" y="76200"/>
            <a:ext cx="9144000" cy="5635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Deadlock</a:t>
            </a:r>
            <a:endParaRPr lang="en-US" sz="3600" b="1" dirty="0"/>
          </a:p>
        </p:txBody>
      </p:sp>
      <p:sp>
        <p:nvSpPr>
          <p:cNvPr id="7" name="Content Placeholder 6"/>
          <p:cNvSpPr>
            <a:spLocks noGrp="1"/>
          </p:cNvSpPr>
          <p:nvPr>
            <p:ph idx="1"/>
          </p:nvPr>
        </p:nvSpPr>
        <p:spPr>
          <a:xfrm>
            <a:off x="304800" y="639762"/>
            <a:ext cx="8610600" cy="5913438"/>
          </a:xfrm>
        </p:spPr>
        <p:txBody>
          <a:bodyPr/>
          <a:lstStyle/>
          <a:p>
            <a:r>
              <a:rPr lang="en-US" dirty="0"/>
              <a:t>In the given execution scenario, </a:t>
            </a:r>
            <a:r>
              <a:rPr lang="en-US" b="1" dirty="0">
                <a:solidFill>
                  <a:srgbClr val="C00000"/>
                </a:solidFill>
              </a:rPr>
              <a:t>T1</a:t>
            </a:r>
            <a:r>
              <a:rPr lang="en-US" dirty="0">
                <a:solidFill>
                  <a:srgbClr val="C00000"/>
                </a:solidFill>
              </a:rPr>
              <a:t> </a:t>
            </a:r>
            <a:r>
              <a:rPr lang="en-US" dirty="0"/>
              <a:t>holds an exclusive lock on B, while </a:t>
            </a:r>
            <a:r>
              <a:rPr lang="en-US" b="1" dirty="0">
                <a:solidFill>
                  <a:srgbClr val="C00000"/>
                </a:solidFill>
              </a:rPr>
              <a:t>T2</a:t>
            </a:r>
            <a:r>
              <a:rPr lang="en-US" dirty="0">
                <a:solidFill>
                  <a:srgbClr val="C00000"/>
                </a:solidFill>
              </a:rPr>
              <a:t> </a:t>
            </a:r>
            <a:r>
              <a:rPr lang="en-US" dirty="0"/>
              <a:t>holds a shared lock on A. </a:t>
            </a:r>
            <a:endParaRPr lang="en-US" dirty="0" smtClean="0"/>
          </a:p>
          <a:p>
            <a:r>
              <a:rPr lang="en-US" dirty="0" smtClean="0"/>
              <a:t>At </a:t>
            </a:r>
            <a:r>
              <a:rPr lang="en-US" dirty="0"/>
              <a:t>Statement 7, </a:t>
            </a:r>
            <a:r>
              <a:rPr lang="en-US" b="1" dirty="0">
                <a:solidFill>
                  <a:srgbClr val="C00000"/>
                </a:solidFill>
              </a:rPr>
              <a:t>T2</a:t>
            </a:r>
            <a:r>
              <a:rPr lang="en-US" dirty="0"/>
              <a:t> requests a lock on B, and at Statement 8, </a:t>
            </a:r>
            <a:r>
              <a:rPr lang="en-US" b="1" dirty="0">
                <a:solidFill>
                  <a:srgbClr val="C00000"/>
                </a:solidFill>
              </a:rPr>
              <a:t>T1</a:t>
            </a:r>
            <a:r>
              <a:rPr lang="en-US" dirty="0">
                <a:solidFill>
                  <a:srgbClr val="C00000"/>
                </a:solidFill>
              </a:rPr>
              <a:t> </a:t>
            </a:r>
            <a:r>
              <a:rPr lang="en-US" dirty="0"/>
              <a:t>requests a lock on A. </a:t>
            </a:r>
            <a:endParaRPr lang="en-US" dirty="0" smtClean="0"/>
          </a:p>
          <a:p>
            <a:r>
              <a:rPr lang="en-US" dirty="0" smtClean="0"/>
              <a:t>This </a:t>
            </a:r>
            <a:r>
              <a:rPr lang="en-US" dirty="0"/>
              <a:t>situation creates a deadlock, as both transactions are waiting for resources held by the other, preventing either from proceeding with their execution.</a:t>
            </a:r>
          </a:p>
        </p:txBody>
      </p:sp>
    </p:spTree>
    <p:extLst>
      <p:ext uri="{BB962C8B-B14F-4D97-AF65-F5344CB8AC3E}">
        <p14:creationId xmlns:p14="http://schemas.microsoft.com/office/powerpoint/2010/main" val="32349177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p>
            <a:r>
              <a:rPr lang="en-US" sz="3600" b="1" dirty="0">
                <a:solidFill>
                  <a:schemeClr val="lt1"/>
                </a:solidFill>
                <a:latin typeface="+mn-lt"/>
                <a:ea typeface="+mn-ea"/>
                <a:cs typeface="+mn-cs"/>
              </a:rPr>
              <a:t>Starvation</a:t>
            </a:r>
          </a:p>
        </p:txBody>
      </p:sp>
      <p:sp>
        <p:nvSpPr>
          <p:cNvPr id="3" name="Content Placeholder 2"/>
          <p:cNvSpPr>
            <a:spLocks noGrp="1"/>
          </p:cNvSpPr>
          <p:nvPr>
            <p:ph idx="1"/>
          </p:nvPr>
        </p:nvSpPr>
        <p:spPr>
          <a:xfrm>
            <a:off x="457200" y="685800"/>
            <a:ext cx="8229600" cy="5440363"/>
          </a:xfrm>
        </p:spPr>
        <p:txBody>
          <a:bodyPr/>
          <a:lstStyle/>
          <a:p>
            <a:r>
              <a:rPr lang="en-US" u="sng" dirty="0">
                <a:hlinkClick r:id="rId2"/>
              </a:rPr>
              <a:t>Starvation</a:t>
            </a:r>
            <a:r>
              <a:rPr lang="en-US" dirty="0"/>
              <a:t> is also possible if concurrency control manager is badly designed. </a:t>
            </a:r>
            <a:endParaRPr lang="en-US" dirty="0" smtClean="0"/>
          </a:p>
          <a:p>
            <a:r>
              <a:rPr lang="en-US" dirty="0" smtClean="0"/>
              <a:t>For </a:t>
            </a:r>
            <a:r>
              <a:rPr lang="en-US" dirty="0"/>
              <a:t>example: A transaction may be waiting for an X-lock on an item, while a sequence of other transactions request and are granted an S-lock on the same item. </a:t>
            </a:r>
            <a:endParaRPr lang="en-US" dirty="0" smtClean="0"/>
          </a:p>
          <a:p>
            <a:r>
              <a:rPr lang="en-US" dirty="0" smtClean="0"/>
              <a:t>This </a:t>
            </a:r>
            <a:r>
              <a:rPr lang="en-US" dirty="0"/>
              <a:t>may be avoided if the concurrency control manager is properly designed.</a:t>
            </a:r>
          </a:p>
        </p:txBody>
      </p:sp>
    </p:spTree>
    <p:extLst>
      <p:ext uri="{BB962C8B-B14F-4D97-AF65-F5344CB8AC3E}">
        <p14:creationId xmlns:p14="http://schemas.microsoft.com/office/powerpoint/2010/main" val="17518332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762000"/>
            <a:ext cx="8534400" cy="6096000"/>
          </a:xfrm>
        </p:spPr>
        <p:txBody>
          <a:bodyPr>
            <a:normAutofit fontScale="92500" lnSpcReduction="20000"/>
          </a:bodyPr>
          <a:lstStyle/>
          <a:p>
            <a:pPr fontAlgn="base"/>
            <a:r>
              <a:rPr lang="en-US" dirty="0"/>
              <a:t>In the Two-Phase Locking Protocol, lock conversion means changing the type of lock on data while a transaction is happening. This process is carefully controlled to maintain consistency in the database.</a:t>
            </a:r>
          </a:p>
          <a:p>
            <a:pPr fontAlgn="base"/>
            <a:r>
              <a:rPr lang="en-US" b="1" dirty="0"/>
              <a:t>Upgrading a Lock</a:t>
            </a:r>
            <a:r>
              <a:rPr lang="en-US" dirty="0"/>
              <a:t>: This means changing a </a:t>
            </a:r>
            <a:r>
              <a:rPr lang="en-US" b="1" dirty="0">
                <a:solidFill>
                  <a:srgbClr val="FF0000"/>
                </a:solidFill>
              </a:rPr>
              <a:t>shared lock (S) to an exclusive lock (X)</a:t>
            </a:r>
            <a:r>
              <a:rPr lang="en-US" dirty="0"/>
              <a:t>. </a:t>
            </a:r>
            <a:endParaRPr lang="en-US" dirty="0" smtClean="0"/>
          </a:p>
          <a:p>
            <a:pPr fontAlgn="base"/>
            <a:r>
              <a:rPr lang="en-US" dirty="0" smtClean="0"/>
              <a:t>For </a:t>
            </a:r>
            <a:r>
              <a:rPr lang="en-US" dirty="0"/>
              <a:t>example, if a transaction initially only needs to read data (S) but later decides it needs to update the same data, it can request an upgrade to an exclusive lock (X). However, this can only happen during the Growing Phase, where the transaction is still acquiring locks.</a:t>
            </a:r>
          </a:p>
          <a:p>
            <a:pPr lvl="1" fontAlgn="base"/>
            <a:r>
              <a:rPr lang="en-US" dirty="0"/>
              <a:t>Example: A transaction reads a value (S lock) but then realizes it needs to modify the value. It upgrades to an X lock during the Growing Phase</a:t>
            </a:r>
            <a:r>
              <a:rPr lang="en-US" dirty="0" smtClean="0"/>
              <a:t>.</a:t>
            </a:r>
            <a:endParaRPr lang="en-US" dirty="0"/>
          </a:p>
        </p:txBody>
      </p:sp>
      <p:sp>
        <p:nvSpPr>
          <p:cNvPr id="4" name="Title 1"/>
          <p:cNvSpPr txBox="1">
            <a:spLocks/>
          </p:cNvSpPr>
          <p:nvPr/>
        </p:nvSpPr>
        <p:spPr>
          <a:xfrm>
            <a:off x="457200" y="0"/>
            <a:ext cx="8229600" cy="5334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lt1"/>
                </a:solidFill>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r>
              <a:rPr lang="en-US" sz="3600" b="1" dirty="0" smtClean="0"/>
              <a:t>Two phase Locking – Lock Conversions</a:t>
            </a:r>
            <a:endParaRPr lang="en-US" sz="3600" b="1" dirty="0"/>
          </a:p>
        </p:txBody>
      </p:sp>
    </p:spTree>
    <p:extLst>
      <p:ext uri="{BB962C8B-B14F-4D97-AF65-F5344CB8AC3E}">
        <p14:creationId xmlns:p14="http://schemas.microsoft.com/office/powerpoint/2010/main" val="132423222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04800"/>
            <a:ext cx="8839200" cy="6400800"/>
          </a:xfrm>
        </p:spPr>
        <p:txBody>
          <a:bodyPr/>
          <a:lstStyle/>
          <a:p>
            <a:pPr fontAlgn="base"/>
            <a:r>
              <a:rPr lang="en-US" b="1" dirty="0"/>
              <a:t>Downgrading a Lock</a:t>
            </a:r>
            <a:r>
              <a:rPr lang="en-US" dirty="0"/>
              <a:t>: This means changing an </a:t>
            </a:r>
            <a:r>
              <a:rPr lang="en-US" b="1" dirty="0">
                <a:solidFill>
                  <a:srgbClr val="FF0000"/>
                </a:solidFill>
              </a:rPr>
              <a:t>exclusive lock (X) to a shared lock (S). </a:t>
            </a:r>
            <a:endParaRPr lang="en-US" b="1" dirty="0" smtClean="0">
              <a:solidFill>
                <a:srgbClr val="FF0000"/>
              </a:solidFill>
            </a:endParaRPr>
          </a:p>
          <a:p>
            <a:pPr fontAlgn="base"/>
            <a:r>
              <a:rPr lang="en-US" dirty="0" smtClean="0"/>
              <a:t>For </a:t>
            </a:r>
            <a:r>
              <a:rPr lang="en-US" dirty="0"/>
              <a:t>instance, if a transaction initially planned to modify data (X lock) but later decides it only needs to read it, it can downgrade the lock. However, this must happen during the Shrinking Phase, where the transaction is releasing locks.</a:t>
            </a:r>
          </a:p>
          <a:p>
            <a:pPr lvl="1" fontAlgn="base"/>
            <a:r>
              <a:rPr lang="en-US" dirty="0"/>
              <a:t>Example: A transaction modifies a value (X lock) but later only needs to read the value, so it downgrades to an S lock during the Shrinking Phase.</a:t>
            </a:r>
          </a:p>
          <a:p>
            <a:endParaRPr lang="en-US" dirty="0"/>
          </a:p>
        </p:txBody>
      </p:sp>
    </p:spTree>
    <p:extLst>
      <p:ext uri="{BB962C8B-B14F-4D97-AF65-F5344CB8AC3E}">
        <p14:creationId xmlns:p14="http://schemas.microsoft.com/office/powerpoint/2010/main" val="18844771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31845" y="76200"/>
            <a:ext cx="9115149" cy="6248400"/>
          </a:xfrm>
          <a:prstGeom prst="rect">
            <a:avLst/>
          </a:prstGeom>
        </p:spPr>
      </p:pic>
    </p:spTree>
    <p:extLst>
      <p:ext uri="{BB962C8B-B14F-4D97-AF65-F5344CB8AC3E}">
        <p14:creationId xmlns:p14="http://schemas.microsoft.com/office/powerpoint/2010/main" val="248375045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
            <a:ext cx="8229600" cy="6049963"/>
          </a:xfrm>
        </p:spPr>
        <p:txBody>
          <a:bodyPr/>
          <a:lstStyle/>
          <a:p>
            <a:r>
              <a:rPr lang="en-US" dirty="0"/>
              <a:t>These rules ensure that the Two-Phase Locking Protocol maintains consistency and avoids conflicts between transactions. </a:t>
            </a:r>
            <a:endParaRPr lang="en-US" dirty="0" smtClean="0"/>
          </a:p>
          <a:p>
            <a:r>
              <a:rPr lang="en-US" dirty="0" smtClean="0"/>
              <a:t>By </a:t>
            </a:r>
            <a:r>
              <a:rPr lang="en-US" dirty="0"/>
              <a:t>limiting when </a:t>
            </a:r>
            <a:r>
              <a:rPr lang="en-US" b="1" dirty="0">
                <a:solidFill>
                  <a:srgbClr val="FF0000"/>
                </a:solidFill>
              </a:rPr>
              <a:t>upgrades</a:t>
            </a:r>
            <a:r>
              <a:rPr lang="en-US" dirty="0"/>
              <a:t> and </a:t>
            </a:r>
            <a:r>
              <a:rPr lang="en-US" b="1" dirty="0">
                <a:solidFill>
                  <a:srgbClr val="FF0000"/>
                </a:solidFill>
              </a:rPr>
              <a:t>downgrades</a:t>
            </a:r>
            <a:r>
              <a:rPr lang="en-US" dirty="0">
                <a:solidFill>
                  <a:srgbClr val="FF0000"/>
                </a:solidFill>
              </a:rPr>
              <a:t> </a:t>
            </a:r>
            <a:r>
              <a:rPr lang="en-US" dirty="0"/>
              <a:t>can occur, the system prevents situations where multiple transactions interfere with each other’s operations</a:t>
            </a:r>
            <a:r>
              <a:rPr lang="en-US" dirty="0" smtClean="0"/>
              <a:t>.</a:t>
            </a:r>
          </a:p>
          <a:p>
            <a:endParaRPr lang="en-US" dirty="0"/>
          </a:p>
          <a:p>
            <a:endParaRPr lang="en-US" dirty="0"/>
          </a:p>
        </p:txBody>
      </p:sp>
    </p:spTree>
    <p:extLst>
      <p:ext uri="{BB962C8B-B14F-4D97-AF65-F5344CB8AC3E}">
        <p14:creationId xmlns:p14="http://schemas.microsoft.com/office/powerpoint/2010/main" val="24104897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76199"/>
            <a:ext cx="3429000" cy="6989885"/>
          </a:xfrm>
          <a:prstGeom prst="rect">
            <a:avLst/>
          </a:prstGeom>
        </p:spPr>
      </p:pic>
      <p:pic>
        <p:nvPicPr>
          <p:cNvPr id="5" name="Picture 4"/>
          <p:cNvPicPr>
            <a:picLocks noChangeAspect="1"/>
          </p:cNvPicPr>
          <p:nvPr/>
        </p:nvPicPr>
        <p:blipFill>
          <a:blip r:embed="rId3"/>
          <a:stretch>
            <a:fillRect/>
          </a:stretch>
        </p:blipFill>
        <p:spPr>
          <a:xfrm>
            <a:off x="3429000" y="381000"/>
            <a:ext cx="5334000" cy="4704292"/>
          </a:xfrm>
          <a:prstGeom prst="rect">
            <a:avLst/>
          </a:prstGeom>
        </p:spPr>
      </p:pic>
    </p:spTree>
    <p:extLst>
      <p:ext uri="{BB962C8B-B14F-4D97-AF65-F5344CB8AC3E}">
        <p14:creationId xmlns:p14="http://schemas.microsoft.com/office/powerpoint/2010/main" val="247443077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pPr marL="0" indent="0" fontAlgn="base">
              <a:buNone/>
            </a:pPr>
            <a:r>
              <a:rPr lang="en-US" b="1" dirty="0"/>
              <a:t>Lock Point</a:t>
            </a:r>
          </a:p>
          <a:p>
            <a:pPr fontAlgn="base"/>
            <a:r>
              <a:rPr lang="en-US" dirty="0"/>
              <a:t>The lock point in a transaction is the moment when the transaction finishes acquiring all the locks it needs. </a:t>
            </a:r>
            <a:endParaRPr lang="en-US" dirty="0" smtClean="0"/>
          </a:p>
          <a:p>
            <a:pPr fontAlgn="base"/>
            <a:r>
              <a:rPr lang="en-US" dirty="0" smtClean="0"/>
              <a:t>After </a:t>
            </a:r>
            <a:r>
              <a:rPr lang="en-US" dirty="0"/>
              <a:t>this point, no new locks can be added, and the transaction starts releasing locks. </a:t>
            </a:r>
            <a:endParaRPr lang="en-US" dirty="0" smtClean="0"/>
          </a:p>
          <a:p>
            <a:pPr fontAlgn="base"/>
            <a:r>
              <a:rPr lang="en-US" dirty="0" smtClean="0"/>
              <a:t>It’s </a:t>
            </a:r>
            <a:r>
              <a:rPr lang="en-US" dirty="0"/>
              <a:t>a key step in the Two-Phase Locking Protocol to ensure the rules of growing and shrinking phases are followed.</a:t>
            </a:r>
          </a:p>
          <a:p>
            <a:endParaRPr lang="en-US" dirty="0"/>
          </a:p>
        </p:txBody>
      </p:sp>
    </p:spTree>
    <p:extLst>
      <p:ext uri="{BB962C8B-B14F-4D97-AF65-F5344CB8AC3E}">
        <p14:creationId xmlns:p14="http://schemas.microsoft.com/office/powerpoint/2010/main" val="41919801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52400"/>
            <a:ext cx="8458200" cy="6705600"/>
          </a:xfrm>
        </p:spPr>
        <p:txBody>
          <a:bodyPr/>
          <a:lstStyle/>
          <a:p>
            <a:pPr marL="0" indent="0" fontAlgn="base">
              <a:buNone/>
            </a:pPr>
            <a:r>
              <a:rPr lang="en-US" b="1" dirty="0"/>
              <a:t>Example of 2PL</a:t>
            </a:r>
          </a:p>
          <a:p>
            <a:pPr fontAlgn="base"/>
            <a:r>
              <a:rPr lang="en-US" dirty="0"/>
              <a:t>Imagine a library system where multiple users can borrow or return books. Each action (like borrowing or returning) is treated as a transaction. Here’s how the Two-Phase Locking Protocol (2PL) works, including the lock point:</a:t>
            </a:r>
          </a:p>
          <a:p>
            <a:pPr lvl="1" fontAlgn="base"/>
            <a:r>
              <a:rPr lang="en-US" dirty="0"/>
              <a:t>User A wants to:</a:t>
            </a:r>
          </a:p>
          <a:p>
            <a:pPr lvl="1" fontAlgn="base"/>
            <a:r>
              <a:rPr lang="en-US" dirty="0"/>
              <a:t>Check the availability of Book X.</a:t>
            </a:r>
          </a:p>
          <a:p>
            <a:pPr lvl="1" fontAlgn="base"/>
            <a:r>
              <a:rPr lang="en-US" dirty="0"/>
              <a:t>Borrow Book X if it’s available.</a:t>
            </a:r>
          </a:p>
          <a:p>
            <a:pPr lvl="1" fontAlgn="base"/>
            <a:r>
              <a:rPr lang="en-US" dirty="0"/>
              <a:t>Update the library’s </a:t>
            </a:r>
            <a:r>
              <a:rPr lang="en-US" dirty="0" smtClean="0"/>
              <a:t>record.</a:t>
            </a:r>
          </a:p>
          <a:p>
            <a:pPr marL="0" indent="0">
              <a:buNone/>
            </a:pPr>
            <a:endParaRPr lang="en-US" dirty="0"/>
          </a:p>
        </p:txBody>
      </p:sp>
    </p:spTree>
    <p:extLst>
      <p:ext uri="{BB962C8B-B14F-4D97-AF65-F5344CB8AC3E}">
        <p14:creationId xmlns:p14="http://schemas.microsoft.com/office/powerpoint/2010/main" val="78665336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9775290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2898</TotalTime>
  <Words>2658</Words>
  <Application>Microsoft Office PowerPoint</Application>
  <PresentationFormat>On-screen Show (4:3)</PresentationFormat>
  <Paragraphs>234</Paragraphs>
  <Slides>77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77</vt:i4>
      </vt:variant>
    </vt:vector>
  </HeadingPairs>
  <TitlesOfParts>
    <vt:vector size="81" baseType="lpstr">
      <vt:lpstr>Arial</vt:lpstr>
      <vt:lpstr>Calibri</vt:lpstr>
      <vt:lpstr>Times New Roman</vt:lpstr>
      <vt:lpstr>Office Theme</vt:lpstr>
      <vt:lpstr>Module-III</vt:lpstr>
      <vt:lpstr>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Schedule</vt:lpstr>
      <vt:lpstr>PowerPoint Presentation</vt:lpstr>
      <vt:lpstr>PowerPoint Presentation</vt:lpstr>
      <vt:lpstr>PowerPoint Presentation</vt:lpstr>
      <vt:lpstr>PowerPoint Presentation</vt:lpstr>
      <vt:lpstr>PowerPoint Presentation</vt:lpstr>
      <vt:lpstr>PowerPoint Presentation</vt:lpstr>
      <vt:lpstr>Serializability</vt:lpstr>
      <vt:lpstr>Types of Serializability</vt:lpstr>
      <vt:lpstr>Conflict Serializability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Creating Precedence graph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Starvation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LP - PC</dc:creator>
  <cp:lastModifiedBy>ADMINLAPTOP</cp:lastModifiedBy>
  <cp:revision>151</cp:revision>
  <dcterms:created xsi:type="dcterms:W3CDTF">2006-08-16T00:00:00Z</dcterms:created>
  <dcterms:modified xsi:type="dcterms:W3CDTF">2025-03-19T07:50:40Z</dcterms:modified>
</cp:coreProperties>
</file>